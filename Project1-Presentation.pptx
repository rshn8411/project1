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Libre Franklin"/>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7" roundtripDataSignature="AMtx7miTGGDJUzgKfc6O1RDhraICLkg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LibreFranklin-bold.fntdata"/><Relationship Id="rId23" Type="http://schemas.openxmlformats.org/officeDocument/2006/relationships/font" Target="fonts/LibreFranklin-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LibreFranklin-boldItalic.fntdata"/><Relationship Id="rId25" Type="http://schemas.openxmlformats.org/officeDocument/2006/relationships/font" Target="fonts/LibreFranklin-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dc.gov/brfss/index.html"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0" name="Shape 110"/>
        <p:cNvGrpSpPr/>
        <p:nvPr/>
      </p:nvGrpSpPr>
      <p:grpSpPr>
        <a:xfrm>
          <a:off x="0" y="0"/>
          <a:ext cx="0" cy="0"/>
          <a:chOff x="0" y="0"/>
          <a:chExt cx="0" cy="0"/>
        </a:xfrm>
      </p:grpSpPr>
      <p:sp>
        <p:nvSpPr>
          <p:cNvPr id="111" name="Google Shape;11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Presenter: Luisa to open, team to introduce themselves</a:t>
            </a:r>
            <a:endParaRPr/>
          </a:p>
        </p:txBody>
      </p:sp>
      <p:sp>
        <p:nvSpPr>
          <p:cNvPr id="113" name="Google Shape;11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Google Shape;1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Presenter: Luisa</a:t>
            </a:r>
            <a:endParaRPr/>
          </a:p>
        </p:txBody>
      </p:sp>
      <p:sp>
        <p:nvSpPr>
          <p:cNvPr id="124" name="Google Shape;1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8" name="Shape 128"/>
        <p:cNvGrpSpPr/>
        <p:nvPr/>
      </p:nvGrpSpPr>
      <p:grpSpPr>
        <a:xfrm>
          <a:off x="0" y="0"/>
          <a:ext cx="0" cy="0"/>
          <a:chOff x="0" y="0"/>
          <a:chExt cx="0" cy="0"/>
        </a:xfrm>
      </p:grpSpPr>
      <p:sp>
        <p:nvSpPr>
          <p:cNvPr id="129" name="Google Shape;1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Presenter: Luisa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Our original focus was on trying to find comprehensive Healthcare expenditures data for 10-20 years. We hoped to find overall healthcare costs/expenditures at the National level and further stratified by state.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1" lang="en-US"/>
              <a:t>Data health expenditures</a:t>
            </a:r>
            <a:r>
              <a:rPr lang="en-US"/>
              <a:t>: We explored numerous data sets from HealthData.gov, the National Institutes of Health (NIH), and the Center’s for Medicaid and Medicare Services (CMS). CMS has a data repository called Data.CMS.gov which offers downloads and API options. In the end, the best healthcare cost data came from CMS. The data set we found came from the National Health Expenditure Accounts data)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From the data set web page: “</a:t>
            </a:r>
            <a:r>
              <a:rPr b="0" i="0" lang="en-US" sz="1200">
                <a:solidFill>
                  <a:schemeClr val="dk1"/>
                </a:solidFill>
                <a:latin typeface="Calibri"/>
                <a:ea typeface="Calibri"/>
                <a:cs typeface="Calibri"/>
                <a:sym typeface="Calibri"/>
              </a:rPr>
              <a:t>The National Health Expenditure Accounts (NHEA) are the official estimates of total health care spending in the United States. Dating back to 1960, the NHEA measures annual U.S. expenditures for health care goods and services, public health activities, government administration, the net cost of health insurance, and investment related to health care. The data are presented by type of service, sources of funding, and type of sponsor.</a:t>
            </a:r>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U.S. health care spending grew 4.6 percent in 2018, reaching $3.6 trillion or $11,172 per person.  As a share of the nation's Gross Domestic Product, health spending accounted for 17.7 percent.”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1" lang="en-US"/>
              <a:t>Obesity data</a:t>
            </a:r>
            <a:r>
              <a:rPr lang="en-US"/>
              <a:t>: Comprehensive obesity data was more difficult to find and after numerous searching we were able to pull a robust data set from Kaggle. This data is actually from the CDC’s Behavioral Risk Factor Surveillance System.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From the data set: “</a:t>
            </a:r>
            <a:r>
              <a:rPr b="0" i="0" lang="en-US" sz="1200">
                <a:solidFill>
                  <a:schemeClr val="dk1"/>
                </a:solidFill>
                <a:latin typeface="Calibri"/>
                <a:ea typeface="Calibri"/>
                <a:cs typeface="Calibri"/>
                <a:sym typeface="Calibri"/>
              </a:rPr>
              <a:t>This dataset includes data on adult's diet, physical activity, and weight status from Behavioral Risk Factor Surveillance System. This data is used for DNPAO's Data, Trends, and Maps database, which provides national and state specific data on obesity, nutrition, physical activity, and breastfeeding.”</a:t>
            </a:r>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Website for BRFSS: </a:t>
            </a:r>
            <a:r>
              <a:rPr lang="en-US" u="sng">
                <a:solidFill>
                  <a:schemeClr val="hlink"/>
                </a:solidFill>
                <a:hlinkClick r:id="rId2"/>
              </a:rPr>
              <a:t>https://www.cdc.gov/brfss/index.html</a:t>
            </a:r>
            <a:endParaRPr/>
          </a:p>
          <a:p>
            <a:pPr indent="0" lvl="0" marL="0" rtl="0" algn="l">
              <a:lnSpc>
                <a:spcPct val="100000"/>
              </a:lnSpc>
              <a:spcBef>
                <a:spcPts val="0"/>
              </a:spcBef>
              <a:spcAft>
                <a:spcPts val="0"/>
              </a:spcAft>
              <a:buSzPts val="1400"/>
              <a:buNone/>
            </a:pPr>
            <a:r>
              <a:t/>
            </a:r>
            <a:endParaRPr/>
          </a:p>
        </p:txBody>
      </p:sp>
      <p:sp>
        <p:nvSpPr>
          <p:cNvPr id="131" name="Google Shape;13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5" name="Shape 135"/>
        <p:cNvGrpSpPr/>
        <p:nvPr/>
      </p:nvGrpSpPr>
      <p:grpSpPr>
        <a:xfrm>
          <a:off x="0" y="0"/>
          <a:ext cx="0" cy="0"/>
          <a:chOff x="0" y="0"/>
          <a:chExt cx="0" cy="0"/>
        </a:xfrm>
      </p:grpSpPr>
      <p:sp>
        <p:nvSpPr>
          <p:cNvPr id="136" name="Google Shape;13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Presenter: Luisa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Most data wrangling was done in Jupyter notebooks using standard libraries. However, a small portion was done in Excel. </a:t>
            </a:r>
            <a:endParaRPr/>
          </a:p>
          <a:p>
            <a:pPr indent="0" lvl="0" marL="0" rtl="0" algn="l">
              <a:lnSpc>
                <a:spcPct val="100000"/>
              </a:lnSpc>
              <a:spcBef>
                <a:spcPts val="0"/>
              </a:spcBef>
              <a:spcAft>
                <a:spcPts val="0"/>
              </a:spcAft>
              <a:buSzPts val="1400"/>
              <a:buNone/>
            </a:pPr>
            <a:r>
              <a:t/>
            </a:r>
            <a:endParaRPr/>
          </a:p>
          <a:p>
            <a:pPr indent="0" lvl="0" marL="0" marR="0" rtl="0" algn="l">
              <a:lnSpc>
                <a:spcPct val="100000"/>
              </a:lnSpc>
              <a:spcBef>
                <a:spcPts val="0"/>
              </a:spcBef>
              <a:spcAft>
                <a:spcPts val="0"/>
              </a:spcAft>
              <a:buClr>
                <a:schemeClr val="dk1"/>
              </a:buClr>
              <a:buSzPts val="1200"/>
              <a:buFont typeface="Calibri"/>
              <a:buNone/>
            </a:pPr>
            <a:r>
              <a:rPr b="1" lang="en-US"/>
              <a:t>Issues and considerations</a:t>
            </a:r>
            <a:r>
              <a:rPr lang="en-US"/>
              <a:t>: </a:t>
            </a:r>
            <a:endParaRPr/>
          </a:p>
          <a:p>
            <a:pPr indent="0" lvl="0" marL="0" marR="0" rtl="0" algn="l">
              <a:lnSpc>
                <a:spcPct val="100000"/>
              </a:lnSpc>
              <a:spcBef>
                <a:spcPts val="0"/>
              </a:spcBef>
              <a:spcAft>
                <a:spcPts val="0"/>
              </a:spcAft>
              <a:buClr>
                <a:schemeClr val="dk1"/>
              </a:buClr>
              <a:buSzPts val="1200"/>
              <a:buFont typeface="Calibri"/>
              <a:buNone/>
            </a:pPr>
            <a:r>
              <a:rPr lang="en-US"/>
              <a:t>1) Finding the right datasets was troublesome. We continued exploring even after beginning our data wrangling. Finding better data sets caused us to slightly pivot on what we were looking at. For instance, we were originally interested in whether median income (nationally and at the state level) was rising as fast as health care costs.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2) The obesity data is limited to years 2011-2016. So we were forced to constrain our Health expenditures data to 2011-2016 as well, even though it has data going back to the 1960s.</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3) To manage scope we limited our expenditures data to Medicare populations. This was also one of our original focuses and seemed easier to stick with this. However, this pushed us toward also limiting the obesity data to 65 and over.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4) Additionally, data was presented in different ways. Obesity data was presented as percentages of samples from each state.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5) Finally, we had too much data to present in a legible manner. A line graph of all 50 states (and DC) is not a very aesthetically pleasing one. </a:t>
            </a:r>
            <a:endParaRPr/>
          </a:p>
          <a:p>
            <a:pPr indent="0" lvl="0" marL="0" rtl="0" algn="l">
              <a:lnSpc>
                <a:spcPct val="100000"/>
              </a:lnSpc>
              <a:spcBef>
                <a:spcPts val="0"/>
              </a:spcBef>
              <a:spcAft>
                <a:spcPts val="0"/>
              </a:spcAft>
              <a:buSzPts val="1400"/>
              <a:buNone/>
            </a:pPr>
            <a:r>
              <a:t/>
            </a:r>
            <a:endParaRPr/>
          </a:p>
        </p:txBody>
      </p:sp>
      <p:sp>
        <p:nvSpPr>
          <p:cNvPr id="138" name="Google Shape;13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9" name="Shape 159"/>
        <p:cNvGrpSpPr/>
        <p:nvPr/>
      </p:nvGrpSpPr>
      <p:grpSpPr>
        <a:xfrm>
          <a:off x="0" y="0"/>
          <a:ext cx="0" cy="0"/>
          <a:chOff x="0" y="0"/>
          <a:chExt cx="0" cy="0"/>
        </a:xfrm>
      </p:grpSpPr>
      <p:sp>
        <p:nvSpPr>
          <p:cNvPr id="160" name="Google Shape;16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order to refine our comparison a little more we had to choose a sample of states. Otherwise our figures wouldn’t be legible. We wanted to choose as wide a distribution as possible and thus chose states from our Cost Per Capita data based on the Max, Min, and median. We limited to four-ish states (includes the federal district of Washington DC) from the top (NJ, DC, NY, CT), two from the middle (KY, NE) , and four from the bottom (ID, NM, MT, HI). </a:t>
            </a:r>
            <a:endParaRPr/>
          </a:p>
        </p:txBody>
      </p:sp>
      <p:sp>
        <p:nvSpPr>
          <p:cNvPr id="171" name="Google Shape;1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Due to the differences in data types reported from our datasets (dichotomous data reported as a proportion vs continuous data in dollars) it was difficult to show any direct comparisons. Thus, we were limited to showing trend lines in our data for comparison. As you can see, over the five years represented here there is a general trend upward in Medicare costs per capita. However over the same five years, obesity within these states has been up &amp; down with little consistency. So, this comparison didn’t really shed any light on our aim. So, we tried our hand at some different graphs. </a:t>
            </a:r>
            <a:endParaRPr/>
          </a:p>
        </p:txBody>
      </p:sp>
      <p:sp>
        <p:nvSpPr>
          <p:cNvPr id="176" name="Google Shape;1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8" name="Shape 188"/>
        <p:cNvGrpSpPr/>
        <p:nvPr/>
      </p:nvGrpSpPr>
      <p:grpSpPr>
        <a:xfrm>
          <a:off x="0" y="0"/>
          <a:ext cx="0" cy="0"/>
          <a:chOff x="0" y="0"/>
          <a:chExt cx="0" cy="0"/>
        </a:xfrm>
      </p:grpSpPr>
      <p:sp>
        <p:nvSpPr>
          <p:cNvPr id="189" name="Google Shape;189;g7d57d13264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7d57d13264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7" name="Shape 197"/>
        <p:cNvGrpSpPr/>
        <p:nvPr/>
      </p:nvGrpSpPr>
      <p:grpSpPr>
        <a:xfrm>
          <a:off x="0" y="0"/>
          <a:ext cx="0" cy="0"/>
          <a:chOff x="0" y="0"/>
          <a:chExt cx="0" cy="0"/>
        </a:xfrm>
      </p:grpSpPr>
      <p:sp>
        <p:nvSpPr>
          <p:cNvPr id="198" name="Google Shape;198;g7d57d13264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7d57d13264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6" name="Shape 206"/>
        <p:cNvGrpSpPr/>
        <p:nvPr/>
      </p:nvGrpSpPr>
      <p:grpSpPr>
        <a:xfrm>
          <a:off x="0" y="0"/>
          <a:ext cx="0" cy="0"/>
          <a:chOff x="0" y="0"/>
          <a:chExt cx="0" cy="0"/>
        </a:xfrm>
      </p:grpSpPr>
      <p:sp>
        <p:nvSpPr>
          <p:cNvPr id="207" name="Google Shape;20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3" name="Shape 213"/>
        <p:cNvGrpSpPr/>
        <p:nvPr/>
      </p:nvGrpSpPr>
      <p:grpSpPr>
        <a:xfrm>
          <a:off x="0" y="0"/>
          <a:ext cx="0" cy="0"/>
          <a:chOff x="0" y="0"/>
          <a:chExt cx="0" cy="0"/>
        </a:xfrm>
      </p:grpSpPr>
      <p:sp>
        <p:nvSpPr>
          <p:cNvPr id="214" name="Google Shape;21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9" name="Shape 219"/>
        <p:cNvGrpSpPr/>
        <p:nvPr/>
      </p:nvGrpSpPr>
      <p:grpSpPr>
        <a:xfrm>
          <a:off x="0" y="0"/>
          <a:ext cx="0" cy="0"/>
          <a:chOff x="0" y="0"/>
          <a:chExt cx="0" cy="0"/>
        </a:xfrm>
      </p:grpSpPr>
      <p:sp>
        <p:nvSpPr>
          <p:cNvPr id="220" name="Google Shape;220;g7d66a9c7e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7d66a9c7e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showMasterSp="0" type="title">
  <p:cSld name="TITLE">
    <p:spTree>
      <p:nvGrpSpPr>
        <p:cNvPr id="17" name="Shape 17"/>
        <p:cNvGrpSpPr/>
        <p:nvPr/>
      </p:nvGrpSpPr>
      <p:grpSpPr>
        <a:xfrm>
          <a:off x="0" y="0"/>
          <a:ext cx="0" cy="0"/>
          <a:chOff x="0" y="0"/>
          <a:chExt cx="0" cy="0"/>
        </a:xfrm>
      </p:grpSpPr>
      <p:sp>
        <p:nvSpPr>
          <p:cNvPr id="18" name="Google Shape;18;p21"/>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EFEFE"/>
              </a:buClr>
              <a:buSzPts val="8000"/>
              <a:buFont typeface="Bookman Old Style"/>
              <a:buNone/>
              <a:defRPr sz="8000">
                <a:solidFill>
                  <a:srgbClr val="FEFEF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 type="subTitle"/>
          </p:nvPr>
        </p:nvSpPr>
        <p:spPr>
          <a:xfrm>
            <a:off x="1100051" y="4645152"/>
            <a:ext cx="10058400" cy="114300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200"/>
              </a:spcBef>
              <a:spcAft>
                <a:spcPts val="0"/>
              </a:spcAft>
              <a:buSzPts val="2400"/>
              <a:buNone/>
              <a:defRPr sz="2400" cap="none">
                <a:solidFill>
                  <a:schemeClr val="lt1"/>
                </a:solidFill>
                <a:latin typeface="Libre Franklin"/>
                <a:ea typeface="Libre Franklin"/>
                <a:cs typeface="Libre Franklin"/>
                <a:sym typeface="Libre Franklin"/>
              </a:defRPr>
            </a:lvl1pPr>
            <a:lvl2pPr lvl="1" algn="ctr">
              <a:lnSpc>
                <a:spcPct val="100000"/>
              </a:lnSpc>
              <a:spcBef>
                <a:spcPts val="200"/>
              </a:spcBef>
              <a:spcAft>
                <a:spcPts val="0"/>
              </a:spcAft>
              <a:buClr>
                <a:srgbClr val="FEFEFE"/>
              </a:buClr>
              <a:buSzPts val="2400"/>
              <a:buNone/>
              <a:defRPr sz="2400"/>
            </a:lvl2pPr>
            <a:lvl3pPr lvl="2" algn="ctr">
              <a:lnSpc>
                <a:spcPct val="100000"/>
              </a:lnSpc>
              <a:spcBef>
                <a:spcPts val="400"/>
              </a:spcBef>
              <a:spcAft>
                <a:spcPts val="0"/>
              </a:spcAft>
              <a:buClr>
                <a:srgbClr val="FEFEFE"/>
              </a:buClr>
              <a:buSzPts val="2400"/>
              <a:buNone/>
              <a:defRPr sz="2400"/>
            </a:lvl3pPr>
            <a:lvl4pPr lvl="3" algn="ctr">
              <a:lnSpc>
                <a:spcPct val="100000"/>
              </a:lnSpc>
              <a:spcBef>
                <a:spcPts val="400"/>
              </a:spcBef>
              <a:spcAft>
                <a:spcPts val="0"/>
              </a:spcAft>
              <a:buClr>
                <a:srgbClr val="FEFEFE"/>
              </a:buClr>
              <a:buSzPts val="2000"/>
              <a:buNone/>
              <a:defRPr sz="2000"/>
            </a:lvl4pPr>
            <a:lvl5pPr lvl="4" algn="ctr">
              <a:lnSpc>
                <a:spcPct val="100000"/>
              </a:lnSpc>
              <a:spcBef>
                <a:spcPts val="400"/>
              </a:spcBef>
              <a:spcAft>
                <a:spcPts val="0"/>
              </a:spcAft>
              <a:buClr>
                <a:srgbClr val="FEFEFE"/>
              </a:buClr>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cxnSp>
        <p:nvCxnSpPr>
          <p:cNvPr id="21" name="Google Shape;21;p21"/>
          <p:cNvCxnSpPr/>
          <p:nvPr/>
        </p:nvCxnSpPr>
        <p:spPr>
          <a:xfrm>
            <a:off x="1207658" y="4474741"/>
            <a:ext cx="9875520" cy="0"/>
          </a:xfrm>
          <a:prstGeom prst="straightConnector1">
            <a:avLst/>
          </a:prstGeom>
          <a:noFill/>
          <a:ln cap="flat" cmpd="sng" w="12700">
            <a:solidFill>
              <a:srgbClr val="FEFEFE"/>
            </a:solidFill>
            <a:prstDash val="solid"/>
            <a:round/>
            <a:headEnd len="sm" w="sm" type="none"/>
            <a:tailEnd len="sm" w="sm" type="none"/>
          </a:ln>
        </p:spPr>
      </p:cxnSp>
      <p:sp>
        <p:nvSpPr>
          <p:cNvPr id="22" name="Google Shape;22;p21"/>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1"/>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1"/>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33" name="Shape 33"/>
        <p:cNvGrpSpPr/>
        <p:nvPr/>
      </p:nvGrpSpPr>
      <p:grpSpPr>
        <a:xfrm>
          <a:off x="0" y="0"/>
          <a:ext cx="0" cy="0"/>
          <a:chOff x="0" y="0"/>
          <a:chExt cx="0" cy="0"/>
        </a:xfrm>
      </p:grpSpPr>
      <p:sp>
        <p:nvSpPr>
          <p:cNvPr id="34" name="Google Shape;34;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6" name="Google Shape;36;p22"/>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howMasterSp="0" type="blank">
  <p:cSld name="BLANK">
    <p:spTree>
      <p:nvGrpSpPr>
        <p:cNvPr id="39" name="Shape 39"/>
        <p:cNvGrpSpPr/>
        <p:nvPr/>
      </p:nvGrpSpPr>
      <p:grpSpPr>
        <a:xfrm>
          <a:off x="0" y="0"/>
          <a:ext cx="0" cy="0"/>
          <a:chOff x="0" y="0"/>
          <a:chExt cx="0" cy="0"/>
        </a:xfrm>
      </p:grpSpPr>
      <p:sp>
        <p:nvSpPr>
          <p:cNvPr id="40" name="Google Shape;40;p23"/>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3"/>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3"/>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showMasterSp="0" type="title">
  <p:cSld name="TITLE">
    <p:spTree>
      <p:nvGrpSpPr>
        <p:cNvPr id="44" name="Shape 44"/>
        <p:cNvGrpSpPr/>
        <p:nvPr/>
      </p:nvGrpSpPr>
      <p:grpSpPr>
        <a:xfrm>
          <a:off x="0" y="0"/>
          <a:ext cx="0" cy="0"/>
          <a:chOff x="0" y="0"/>
          <a:chExt cx="0" cy="0"/>
        </a:xfrm>
      </p:grpSpPr>
      <p:sp>
        <p:nvSpPr>
          <p:cNvPr id="45" name="Google Shape;45;p20"/>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0"/>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2626"/>
              </a:buClr>
              <a:buSzPts val="8000"/>
              <a:buFont typeface="Bookman Old Style"/>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 type="subTitle"/>
          </p:nvPr>
        </p:nvSpPr>
        <p:spPr>
          <a:xfrm>
            <a:off x="1100051" y="4645152"/>
            <a:ext cx="10058400" cy="114300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200"/>
              </a:spcBef>
              <a:spcAft>
                <a:spcPts val="0"/>
              </a:spcAft>
              <a:buSzPts val="2400"/>
              <a:buNone/>
              <a:defRPr sz="2400" cap="none">
                <a:solidFill>
                  <a:schemeClr val="dk1"/>
                </a:solidFill>
                <a:latin typeface="Libre Franklin"/>
                <a:ea typeface="Libre Franklin"/>
                <a:cs typeface="Libre Franklin"/>
                <a:sym typeface="Libre Franklin"/>
              </a:defRPr>
            </a:lvl1pPr>
            <a:lvl2pPr lvl="1" algn="ctr">
              <a:lnSpc>
                <a:spcPct val="100000"/>
              </a:lnSpc>
              <a:spcBef>
                <a:spcPts val="200"/>
              </a:spcBef>
              <a:spcAft>
                <a:spcPts val="0"/>
              </a:spcAft>
              <a:buClr>
                <a:srgbClr val="3F3F3F"/>
              </a:buClr>
              <a:buSzPts val="2400"/>
              <a:buNone/>
              <a:defRPr sz="2400"/>
            </a:lvl2pPr>
            <a:lvl3pPr lvl="2" algn="ctr">
              <a:lnSpc>
                <a:spcPct val="100000"/>
              </a:lnSpc>
              <a:spcBef>
                <a:spcPts val="400"/>
              </a:spcBef>
              <a:spcAft>
                <a:spcPts val="0"/>
              </a:spcAft>
              <a:buClr>
                <a:srgbClr val="3F3F3F"/>
              </a:buClr>
              <a:buSzPts val="2400"/>
              <a:buNone/>
              <a:defRPr sz="2400"/>
            </a:lvl3pPr>
            <a:lvl4pPr lvl="3" algn="ctr">
              <a:lnSpc>
                <a:spcPct val="100000"/>
              </a:lnSpc>
              <a:spcBef>
                <a:spcPts val="400"/>
              </a:spcBef>
              <a:spcAft>
                <a:spcPts val="0"/>
              </a:spcAft>
              <a:buClr>
                <a:srgbClr val="3F3F3F"/>
              </a:buClr>
              <a:buSzPts val="2000"/>
              <a:buNone/>
              <a:defRPr sz="2000"/>
            </a:lvl4pPr>
            <a:lvl5pPr lvl="4" algn="ctr">
              <a:lnSpc>
                <a:spcPct val="100000"/>
              </a:lnSpc>
              <a:spcBef>
                <a:spcPts val="400"/>
              </a:spcBef>
              <a:spcAft>
                <a:spcPts val="0"/>
              </a:spcAft>
              <a:buClr>
                <a:srgbClr val="3F3F3F"/>
              </a:buClr>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cxnSp>
        <p:nvCxnSpPr>
          <p:cNvPr id="48" name="Google Shape;48;p20"/>
          <p:cNvCxnSpPr/>
          <p:nvPr/>
        </p:nvCxnSpPr>
        <p:spPr>
          <a:xfrm>
            <a:off x="1207658" y="4474741"/>
            <a:ext cx="9875520" cy="0"/>
          </a:xfrm>
          <a:prstGeom prst="straightConnector1">
            <a:avLst/>
          </a:prstGeom>
          <a:noFill/>
          <a:ln cap="flat" cmpd="sng" w="12700">
            <a:solidFill>
              <a:srgbClr val="3F3F3F"/>
            </a:solidFill>
            <a:prstDash val="solid"/>
            <a:round/>
            <a:headEnd len="sm" w="sm" type="none"/>
            <a:tailEnd len="sm" w="sm" type="none"/>
          </a:ln>
        </p:spPr>
      </p:cxnSp>
      <p:sp>
        <p:nvSpPr>
          <p:cNvPr id="49" name="Google Shape;49;p20"/>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0"/>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showMasterSp="0" type="secHead">
  <p:cSld name="SECTION_HEADER">
    <p:bg>
      <p:bgPr>
        <a:solidFill>
          <a:schemeClr val="lt1"/>
        </a:solidFill>
      </p:bgPr>
    </p:bg>
    <p:spTree>
      <p:nvGrpSpPr>
        <p:cNvPr id="52" name="Shape 52"/>
        <p:cNvGrpSpPr/>
        <p:nvPr/>
      </p:nvGrpSpPr>
      <p:grpSpPr>
        <a:xfrm>
          <a:off x="0" y="0"/>
          <a:ext cx="0" cy="0"/>
          <a:chOff x="0" y="0"/>
          <a:chExt cx="0" cy="0"/>
        </a:xfrm>
      </p:grpSpPr>
      <p:sp>
        <p:nvSpPr>
          <p:cNvPr id="53" name="Google Shape;53;p24"/>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4"/>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2626"/>
              </a:buClr>
              <a:buSzPts val="8000"/>
              <a:buFont typeface="Bookman Old Style"/>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4"/>
          <p:cNvSpPr txBox="1"/>
          <p:nvPr>
            <p:ph idx="1" type="body"/>
          </p:nvPr>
        </p:nvSpPr>
        <p:spPr>
          <a:xfrm>
            <a:off x="1097280" y="4663440"/>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200"/>
              </a:spcBef>
              <a:spcAft>
                <a:spcPts val="0"/>
              </a:spcAft>
              <a:buSzPts val="2400"/>
              <a:buNone/>
              <a:defRPr sz="2400" cap="none">
                <a:solidFill>
                  <a:schemeClr val="dk1"/>
                </a:solidFill>
                <a:latin typeface="Libre Franklin"/>
                <a:ea typeface="Libre Franklin"/>
                <a:cs typeface="Libre Franklin"/>
                <a:sym typeface="Libre Franklin"/>
              </a:defRPr>
            </a:lvl1pPr>
            <a:lvl2pPr indent="-228600" lvl="1" marL="914400" algn="l">
              <a:lnSpc>
                <a:spcPct val="100000"/>
              </a:lnSpc>
              <a:spcBef>
                <a:spcPts val="200"/>
              </a:spcBef>
              <a:spcAft>
                <a:spcPts val="0"/>
              </a:spcAft>
              <a:buClr>
                <a:srgbClr val="888888"/>
              </a:buClr>
              <a:buSzPts val="1800"/>
              <a:buNone/>
              <a:defRPr sz="1800">
                <a:solidFill>
                  <a:srgbClr val="888888"/>
                </a:solidFill>
              </a:defRPr>
            </a:lvl2pPr>
            <a:lvl3pPr indent="-228600" lvl="2" marL="1371600" algn="l">
              <a:lnSpc>
                <a:spcPct val="100000"/>
              </a:lnSpc>
              <a:spcBef>
                <a:spcPts val="400"/>
              </a:spcBef>
              <a:spcAft>
                <a:spcPts val="0"/>
              </a:spcAft>
              <a:buClr>
                <a:srgbClr val="888888"/>
              </a:buClr>
              <a:buSzPts val="1600"/>
              <a:buNone/>
              <a:defRPr sz="1600">
                <a:solidFill>
                  <a:srgbClr val="888888"/>
                </a:solidFill>
              </a:defRPr>
            </a:lvl3pPr>
            <a:lvl4pPr indent="-228600" lvl="3" marL="1828800" algn="l">
              <a:lnSpc>
                <a:spcPct val="100000"/>
              </a:lnSpc>
              <a:spcBef>
                <a:spcPts val="400"/>
              </a:spcBef>
              <a:spcAft>
                <a:spcPts val="0"/>
              </a:spcAft>
              <a:buClr>
                <a:srgbClr val="888888"/>
              </a:buClr>
              <a:buSzPts val="1400"/>
              <a:buNone/>
              <a:defRPr sz="1400">
                <a:solidFill>
                  <a:srgbClr val="888888"/>
                </a:solidFill>
              </a:defRPr>
            </a:lvl4pPr>
            <a:lvl5pPr indent="-228600" lvl="4" marL="2286000" algn="l">
              <a:lnSpc>
                <a:spcPct val="100000"/>
              </a:lnSpc>
              <a:spcBef>
                <a:spcPts val="400"/>
              </a:spcBef>
              <a:spcAft>
                <a:spcPts val="0"/>
              </a:spcAft>
              <a:buClr>
                <a:srgbClr val="888888"/>
              </a:buClr>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cxnSp>
        <p:nvCxnSpPr>
          <p:cNvPr id="56" name="Google Shape;56;p24"/>
          <p:cNvCxnSpPr/>
          <p:nvPr/>
        </p:nvCxnSpPr>
        <p:spPr>
          <a:xfrm>
            <a:off x="1207658" y="4485132"/>
            <a:ext cx="9875520" cy="0"/>
          </a:xfrm>
          <a:prstGeom prst="straightConnector1">
            <a:avLst/>
          </a:prstGeom>
          <a:noFill/>
          <a:ln cap="flat" cmpd="sng" w="12700">
            <a:solidFill>
              <a:srgbClr val="3F3F3F"/>
            </a:solidFill>
            <a:prstDash val="solid"/>
            <a:round/>
            <a:headEnd len="sm" w="sm" type="none"/>
            <a:tailEnd len="sm" w="sm" type="none"/>
          </a:ln>
        </p:spPr>
      </p:cxnSp>
      <p:sp>
        <p:nvSpPr>
          <p:cNvPr id="57" name="Google Shape;57;p24"/>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4"/>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60" name="Shape 60"/>
        <p:cNvGrpSpPr/>
        <p:nvPr/>
      </p:nvGrpSpPr>
      <p:grpSpPr>
        <a:xfrm>
          <a:off x="0" y="0"/>
          <a:ext cx="0" cy="0"/>
          <a:chOff x="0" y="0"/>
          <a:chExt cx="0" cy="0"/>
        </a:xfrm>
      </p:grpSpPr>
      <p:sp>
        <p:nvSpPr>
          <p:cNvPr id="61" name="Google Shape;61;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5"/>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3" name="Google Shape;63;p25"/>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4" name="Google Shape;64;p25"/>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5"/>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67" name="Shape 67"/>
        <p:cNvGrpSpPr/>
        <p:nvPr/>
      </p:nvGrpSpPr>
      <p:grpSpPr>
        <a:xfrm>
          <a:off x="0" y="0"/>
          <a:ext cx="0" cy="0"/>
          <a:chOff x="0" y="0"/>
          <a:chExt cx="0" cy="0"/>
        </a:xfrm>
      </p:grpSpPr>
      <p:sp>
        <p:nvSpPr>
          <p:cNvPr id="68" name="Google Shape;68;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6"/>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200"/>
              </a:spcBef>
              <a:spcAft>
                <a:spcPts val="0"/>
              </a:spcAft>
              <a:buSzPts val="2000"/>
              <a:buNone/>
              <a:defRPr b="0" sz="2000" cap="none">
                <a:solidFill>
                  <a:schemeClr val="dk1"/>
                </a:solidFill>
              </a:defRPr>
            </a:lvl1pPr>
            <a:lvl2pPr indent="-228600" lvl="1" marL="914400" algn="l">
              <a:lnSpc>
                <a:spcPct val="100000"/>
              </a:lnSpc>
              <a:spcBef>
                <a:spcPts val="200"/>
              </a:spcBef>
              <a:spcAft>
                <a:spcPts val="0"/>
              </a:spcAft>
              <a:buClr>
                <a:srgbClr val="3F3F3F"/>
              </a:buClr>
              <a:buSzPts val="2000"/>
              <a:buNone/>
              <a:defRPr b="1" sz="2000"/>
            </a:lvl2pPr>
            <a:lvl3pPr indent="-228600" lvl="2" marL="1371600" algn="l">
              <a:lnSpc>
                <a:spcPct val="100000"/>
              </a:lnSpc>
              <a:spcBef>
                <a:spcPts val="400"/>
              </a:spcBef>
              <a:spcAft>
                <a:spcPts val="0"/>
              </a:spcAft>
              <a:buClr>
                <a:srgbClr val="3F3F3F"/>
              </a:buClr>
              <a:buSzPts val="1800"/>
              <a:buNone/>
              <a:defRPr b="1" sz="1800"/>
            </a:lvl3pPr>
            <a:lvl4pPr indent="-228600" lvl="3" marL="1828800" algn="l">
              <a:lnSpc>
                <a:spcPct val="100000"/>
              </a:lnSpc>
              <a:spcBef>
                <a:spcPts val="400"/>
              </a:spcBef>
              <a:spcAft>
                <a:spcPts val="0"/>
              </a:spcAft>
              <a:buClr>
                <a:srgbClr val="3F3F3F"/>
              </a:buClr>
              <a:buSzPts val="1600"/>
              <a:buNone/>
              <a:defRPr b="1" sz="1600"/>
            </a:lvl4pPr>
            <a:lvl5pPr indent="-228600" lvl="4" marL="2286000" algn="l">
              <a:lnSpc>
                <a:spcPct val="100000"/>
              </a:lnSpc>
              <a:spcBef>
                <a:spcPts val="400"/>
              </a:spcBef>
              <a:spcAft>
                <a:spcPts val="0"/>
              </a:spcAft>
              <a:buClr>
                <a:srgbClr val="3F3F3F"/>
              </a:buClr>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70" name="Google Shape;70;p26"/>
          <p:cNvSpPr txBox="1"/>
          <p:nvPr>
            <p:ph idx="2" type="body"/>
          </p:nvPr>
        </p:nvSpPr>
        <p:spPr>
          <a:xfrm>
            <a:off x="1097280" y="2958274"/>
            <a:ext cx="4639736" cy="2910821"/>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1" name="Google Shape;71;p26"/>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200"/>
              </a:spcBef>
              <a:spcAft>
                <a:spcPts val="0"/>
              </a:spcAft>
              <a:buSzPts val="2000"/>
              <a:buNone/>
              <a:defRPr b="0" sz="2000" cap="none">
                <a:solidFill>
                  <a:schemeClr val="dk1"/>
                </a:solidFill>
              </a:defRPr>
            </a:lvl1pPr>
            <a:lvl2pPr indent="-228600" lvl="1" marL="914400" algn="l">
              <a:lnSpc>
                <a:spcPct val="100000"/>
              </a:lnSpc>
              <a:spcBef>
                <a:spcPts val="200"/>
              </a:spcBef>
              <a:spcAft>
                <a:spcPts val="0"/>
              </a:spcAft>
              <a:buClr>
                <a:srgbClr val="3F3F3F"/>
              </a:buClr>
              <a:buSzPts val="2000"/>
              <a:buNone/>
              <a:defRPr b="1" sz="2000"/>
            </a:lvl2pPr>
            <a:lvl3pPr indent="-228600" lvl="2" marL="1371600" algn="l">
              <a:lnSpc>
                <a:spcPct val="100000"/>
              </a:lnSpc>
              <a:spcBef>
                <a:spcPts val="400"/>
              </a:spcBef>
              <a:spcAft>
                <a:spcPts val="0"/>
              </a:spcAft>
              <a:buClr>
                <a:srgbClr val="3F3F3F"/>
              </a:buClr>
              <a:buSzPts val="1800"/>
              <a:buNone/>
              <a:defRPr b="1" sz="1800"/>
            </a:lvl3pPr>
            <a:lvl4pPr indent="-228600" lvl="3" marL="1828800" algn="l">
              <a:lnSpc>
                <a:spcPct val="100000"/>
              </a:lnSpc>
              <a:spcBef>
                <a:spcPts val="400"/>
              </a:spcBef>
              <a:spcAft>
                <a:spcPts val="0"/>
              </a:spcAft>
              <a:buClr>
                <a:srgbClr val="3F3F3F"/>
              </a:buClr>
              <a:buSzPts val="1600"/>
              <a:buNone/>
              <a:defRPr b="1" sz="1600"/>
            </a:lvl4pPr>
            <a:lvl5pPr indent="-228600" lvl="4" marL="2286000" algn="l">
              <a:lnSpc>
                <a:spcPct val="100000"/>
              </a:lnSpc>
              <a:spcBef>
                <a:spcPts val="400"/>
              </a:spcBef>
              <a:spcAft>
                <a:spcPts val="0"/>
              </a:spcAft>
              <a:buClr>
                <a:srgbClr val="3F3F3F"/>
              </a:buClr>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72" name="Google Shape;72;p26"/>
          <p:cNvSpPr txBox="1"/>
          <p:nvPr>
            <p:ph idx="4" type="body"/>
          </p:nvPr>
        </p:nvSpPr>
        <p:spPr>
          <a:xfrm>
            <a:off x="6515944" y="2958273"/>
            <a:ext cx="4639736" cy="2910821"/>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3" name="Google Shape;73;p26"/>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76" name="Shape 76"/>
        <p:cNvGrpSpPr/>
        <p:nvPr/>
      </p:nvGrpSpPr>
      <p:grpSpPr>
        <a:xfrm>
          <a:off x="0" y="0"/>
          <a:ext cx="0" cy="0"/>
          <a:chOff x="0" y="0"/>
          <a:chExt cx="0" cy="0"/>
        </a:xfrm>
      </p:grpSpPr>
      <p:sp>
        <p:nvSpPr>
          <p:cNvPr id="77" name="Google Shape;77;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showMasterSp="0" type="objTx">
  <p:cSld name="OBJECT_WITH_CAPTION_TEXT">
    <p:spTree>
      <p:nvGrpSpPr>
        <p:cNvPr id="81" name="Shape 81"/>
        <p:cNvGrpSpPr/>
        <p:nvPr/>
      </p:nvGrpSpPr>
      <p:grpSpPr>
        <a:xfrm>
          <a:off x="0" y="0"/>
          <a:ext cx="0" cy="0"/>
          <a:chOff x="0" y="0"/>
          <a:chExt cx="0" cy="0"/>
        </a:xfrm>
      </p:grpSpPr>
      <p:sp>
        <p:nvSpPr>
          <p:cNvPr id="82" name="Google Shape;82;p28"/>
          <p:cNvSpPr/>
          <p:nvPr/>
        </p:nvSpPr>
        <p:spPr>
          <a:xfrm>
            <a:off x="16" y="0"/>
            <a:ext cx="4654296" cy="68580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8"/>
          <p:cNvSpPr txBox="1"/>
          <p:nvPr>
            <p:ph type="title"/>
          </p:nvPr>
        </p:nvSpPr>
        <p:spPr>
          <a:xfrm>
            <a:off x="643466" y="786383"/>
            <a:ext cx="3517567"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Bookman Old Style"/>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8"/>
          <p:cNvSpPr txBox="1"/>
          <p:nvPr>
            <p:ph idx="1" type="body"/>
          </p:nvPr>
        </p:nvSpPr>
        <p:spPr>
          <a:xfrm>
            <a:off x="5458984" y="812799"/>
            <a:ext cx="5928344" cy="5294757"/>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5" name="Google Shape;85;p28"/>
          <p:cNvSpPr txBox="1"/>
          <p:nvPr>
            <p:ph idx="2" type="body"/>
          </p:nvPr>
        </p:nvSpPr>
        <p:spPr>
          <a:xfrm>
            <a:off x="643465" y="3043050"/>
            <a:ext cx="3517567" cy="3064505"/>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Clr>
                <a:srgbClr val="3F3F3F"/>
              </a:buClr>
              <a:buSzPts val="1200"/>
              <a:buNone/>
              <a:defRPr sz="1200"/>
            </a:lvl2pPr>
            <a:lvl3pPr indent="-228600" lvl="2" marL="1371600" algn="l">
              <a:lnSpc>
                <a:spcPct val="100000"/>
              </a:lnSpc>
              <a:spcBef>
                <a:spcPts val="400"/>
              </a:spcBef>
              <a:spcAft>
                <a:spcPts val="0"/>
              </a:spcAft>
              <a:buClr>
                <a:srgbClr val="3F3F3F"/>
              </a:buClr>
              <a:buSzPts val="1000"/>
              <a:buNone/>
              <a:defRPr sz="1000"/>
            </a:lvl3pPr>
            <a:lvl4pPr indent="-228600" lvl="3" marL="1828800" algn="l">
              <a:lnSpc>
                <a:spcPct val="100000"/>
              </a:lnSpc>
              <a:spcBef>
                <a:spcPts val="400"/>
              </a:spcBef>
              <a:spcAft>
                <a:spcPts val="0"/>
              </a:spcAft>
              <a:buClr>
                <a:srgbClr val="3F3F3F"/>
              </a:buClr>
              <a:buSzPts val="900"/>
              <a:buNone/>
              <a:defRPr sz="900"/>
            </a:lvl4pPr>
            <a:lvl5pPr indent="-228600" lvl="4" marL="2286000" algn="l">
              <a:lnSpc>
                <a:spcPct val="100000"/>
              </a:lnSpc>
              <a:spcBef>
                <a:spcPts val="400"/>
              </a:spcBef>
              <a:spcAft>
                <a:spcPts val="0"/>
              </a:spcAft>
              <a:buClr>
                <a:srgbClr val="3F3F3F"/>
              </a:buClr>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6" name="Google Shape;86;p28"/>
          <p:cNvSpPr txBox="1"/>
          <p:nvPr>
            <p:ph idx="10" type="dt"/>
          </p:nvPr>
        </p:nvSpPr>
        <p:spPr>
          <a:xfrm>
            <a:off x="643464" y="6446520"/>
            <a:ext cx="351756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8"/>
          <p:cNvSpPr txBox="1"/>
          <p:nvPr>
            <p:ph idx="11" type="ftr"/>
          </p:nvPr>
        </p:nvSpPr>
        <p:spPr>
          <a:xfrm>
            <a:off x="5458983" y="6446520"/>
            <a:ext cx="533401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showMasterSp="0" type="picTx">
  <p:cSld name="PICTURE_WITH_CAPTION_TEXT">
    <p:spTree>
      <p:nvGrpSpPr>
        <p:cNvPr id="89" name="Shape 89"/>
        <p:cNvGrpSpPr/>
        <p:nvPr/>
      </p:nvGrpSpPr>
      <p:grpSpPr>
        <a:xfrm>
          <a:off x="0" y="0"/>
          <a:ext cx="0" cy="0"/>
          <a:chOff x="0" y="0"/>
          <a:chExt cx="0" cy="0"/>
        </a:xfrm>
      </p:grpSpPr>
      <p:sp>
        <p:nvSpPr>
          <p:cNvPr id="90" name="Google Shape;90;p29"/>
          <p:cNvSpPr/>
          <p:nvPr/>
        </p:nvSpPr>
        <p:spPr>
          <a:xfrm>
            <a:off x="0" y="4578350"/>
            <a:ext cx="12188825" cy="227965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9"/>
          <p:cNvSpPr/>
          <p:nvPr>
            <p:ph idx="2" type="pic"/>
          </p:nvPr>
        </p:nvSpPr>
        <p:spPr>
          <a:xfrm>
            <a:off x="15" y="0"/>
            <a:ext cx="12191985" cy="4578350"/>
          </a:xfrm>
          <a:prstGeom prst="rect">
            <a:avLst/>
          </a:prstGeom>
          <a:solidFill>
            <a:srgbClr val="D8D8D8"/>
          </a:solidFill>
          <a:ln>
            <a:noFill/>
          </a:ln>
        </p:spPr>
        <p:txBody>
          <a:bodyPr anchorCtr="0" anchor="t" bIns="45700" lIns="457200" spcFirstLastPara="1" rIns="0" wrap="square" tIns="457200">
            <a:normAutofit/>
          </a:bodyPr>
          <a:lstStyle>
            <a:lvl1pPr lvl="0" marR="0" rtl="0" algn="l">
              <a:lnSpc>
                <a:spcPct val="110000"/>
              </a:lnSpc>
              <a:spcBef>
                <a:spcPts val="1200"/>
              </a:spcBef>
              <a:spcAft>
                <a:spcPts val="0"/>
              </a:spcAft>
              <a:buClr>
                <a:schemeClr val="accent1"/>
              </a:buClr>
              <a:buSzPts val="3200"/>
              <a:buFont typeface="Calibri"/>
              <a:buNone/>
              <a:defRPr b="0" i="0" sz="3200" u="none" cap="none" strike="noStrike">
                <a:solidFill>
                  <a:srgbClr val="3F3F3F"/>
                </a:solidFill>
                <a:latin typeface="Libre Franklin"/>
                <a:ea typeface="Libre Franklin"/>
                <a:cs typeface="Libre Franklin"/>
                <a:sym typeface="Libre Franklin"/>
              </a:defRPr>
            </a:lvl1pPr>
            <a:lvl2pPr lvl="1" marR="0" rtl="0" algn="l">
              <a:lnSpc>
                <a:spcPct val="100000"/>
              </a:lnSpc>
              <a:spcBef>
                <a:spcPts val="200"/>
              </a:spcBef>
              <a:spcAft>
                <a:spcPts val="0"/>
              </a:spcAft>
              <a:buClr>
                <a:srgbClr val="3F3F3F"/>
              </a:buClr>
              <a:buSzPts val="2800"/>
              <a:buFont typeface="Calibri"/>
              <a:buNone/>
              <a:defRPr b="0" i="0" sz="2800" u="none" cap="none" strike="noStrike">
                <a:solidFill>
                  <a:srgbClr val="3F3F3F"/>
                </a:solidFill>
                <a:latin typeface="Libre Franklin"/>
                <a:ea typeface="Libre Franklin"/>
                <a:cs typeface="Libre Franklin"/>
                <a:sym typeface="Libre Franklin"/>
              </a:defRPr>
            </a:lvl2pPr>
            <a:lvl3pPr lvl="2" marR="0" rtl="0" algn="l">
              <a:lnSpc>
                <a:spcPct val="100000"/>
              </a:lnSpc>
              <a:spcBef>
                <a:spcPts val="400"/>
              </a:spcBef>
              <a:spcAft>
                <a:spcPts val="0"/>
              </a:spcAft>
              <a:buClr>
                <a:srgbClr val="3F3F3F"/>
              </a:buClr>
              <a:buSzPts val="2400"/>
              <a:buFont typeface="Calibri"/>
              <a:buNone/>
              <a:defRPr b="0" i="0" sz="2400" u="none" cap="none" strike="noStrike">
                <a:solidFill>
                  <a:srgbClr val="3F3F3F"/>
                </a:solidFill>
                <a:latin typeface="Libre Franklin"/>
                <a:ea typeface="Libre Franklin"/>
                <a:cs typeface="Libre Franklin"/>
                <a:sym typeface="Libre Franklin"/>
              </a:defRPr>
            </a:lvl3pPr>
            <a:lvl4pPr lvl="3" marR="0" rtl="0" algn="l">
              <a:lnSpc>
                <a:spcPct val="100000"/>
              </a:lnSpc>
              <a:spcBef>
                <a:spcPts val="400"/>
              </a:spcBef>
              <a:spcAft>
                <a:spcPts val="0"/>
              </a:spcAft>
              <a:buClr>
                <a:srgbClr val="3F3F3F"/>
              </a:buClr>
              <a:buSzPts val="2000"/>
              <a:buFont typeface="Calibri"/>
              <a:buNone/>
              <a:defRPr b="0" i="0" sz="2000" u="none" cap="none" strike="noStrike">
                <a:solidFill>
                  <a:srgbClr val="3F3F3F"/>
                </a:solidFill>
                <a:latin typeface="Libre Franklin"/>
                <a:ea typeface="Libre Franklin"/>
                <a:cs typeface="Libre Franklin"/>
                <a:sym typeface="Libre Franklin"/>
              </a:defRPr>
            </a:lvl4pPr>
            <a:lvl5pPr lvl="4" marR="0" rtl="0" algn="l">
              <a:lnSpc>
                <a:spcPct val="100000"/>
              </a:lnSpc>
              <a:spcBef>
                <a:spcPts val="400"/>
              </a:spcBef>
              <a:spcAft>
                <a:spcPts val="0"/>
              </a:spcAft>
              <a:buClr>
                <a:srgbClr val="3F3F3F"/>
              </a:buClr>
              <a:buSzPts val="2000"/>
              <a:buFont typeface="Calibri"/>
              <a:buNone/>
              <a:defRPr b="0" i="0" sz="2000" u="none" cap="none" strike="noStrike">
                <a:solidFill>
                  <a:srgbClr val="3F3F3F"/>
                </a:solidFill>
                <a:latin typeface="Libre Franklin"/>
                <a:ea typeface="Libre Franklin"/>
                <a:cs typeface="Libre Franklin"/>
                <a:sym typeface="Libre Franklin"/>
              </a:defRPr>
            </a:lvl5pPr>
            <a:lvl6pPr lvl="5" marR="0" rtl="0" algn="l">
              <a:lnSpc>
                <a:spcPct val="90000"/>
              </a:lnSpc>
              <a:spcBef>
                <a:spcPts val="400"/>
              </a:spcBef>
              <a:spcAft>
                <a:spcPts val="0"/>
              </a:spcAft>
              <a:buClr>
                <a:schemeClr val="accent1"/>
              </a:buClr>
              <a:buSzPts val="2000"/>
              <a:buFont typeface="Calibri"/>
              <a:buNone/>
              <a:defRPr b="0" i="0" sz="2000" u="none" cap="none" strike="noStrike">
                <a:solidFill>
                  <a:srgbClr val="3F3F3F"/>
                </a:solidFill>
                <a:latin typeface="Libre Franklin"/>
                <a:ea typeface="Libre Franklin"/>
                <a:cs typeface="Libre Franklin"/>
                <a:sym typeface="Libre Franklin"/>
              </a:defRPr>
            </a:lvl6pPr>
            <a:lvl7pPr lvl="6" marR="0" rtl="0" algn="l">
              <a:lnSpc>
                <a:spcPct val="90000"/>
              </a:lnSpc>
              <a:spcBef>
                <a:spcPts val="400"/>
              </a:spcBef>
              <a:spcAft>
                <a:spcPts val="0"/>
              </a:spcAft>
              <a:buClr>
                <a:schemeClr val="accent1"/>
              </a:buClr>
              <a:buSzPts val="2000"/>
              <a:buFont typeface="Calibri"/>
              <a:buNone/>
              <a:defRPr b="0" i="0" sz="2000" u="none" cap="none" strike="noStrike">
                <a:solidFill>
                  <a:srgbClr val="3F3F3F"/>
                </a:solidFill>
                <a:latin typeface="Libre Franklin"/>
                <a:ea typeface="Libre Franklin"/>
                <a:cs typeface="Libre Franklin"/>
                <a:sym typeface="Libre Franklin"/>
              </a:defRPr>
            </a:lvl7pPr>
            <a:lvl8pPr lvl="7" marR="0" rtl="0" algn="l">
              <a:lnSpc>
                <a:spcPct val="90000"/>
              </a:lnSpc>
              <a:spcBef>
                <a:spcPts val="400"/>
              </a:spcBef>
              <a:spcAft>
                <a:spcPts val="0"/>
              </a:spcAft>
              <a:buClr>
                <a:schemeClr val="accent1"/>
              </a:buClr>
              <a:buSzPts val="2000"/>
              <a:buFont typeface="Calibri"/>
              <a:buNone/>
              <a:defRPr b="0" i="0" sz="2000" u="none" cap="none" strike="noStrike">
                <a:solidFill>
                  <a:srgbClr val="3F3F3F"/>
                </a:solidFill>
                <a:latin typeface="Libre Franklin"/>
                <a:ea typeface="Libre Franklin"/>
                <a:cs typeface="Libre Franklin"/>
                <a:sym typeface="Libre Franklin"/>
              </a:defRPr>
            </a:lvl8pPr>
            <a:lvl9pPr lvl="8" marR="0" rtl="0" algn="l">
              <a:lnSpc>
                <a:spcPct val="90000"/>
              </a:lnSpc>
              <a:spcBef>
                <a:spcPts val="400"/>
              </a:spcBef>
              <a:spcAft>
                <a:spcPts val="400"/>
              </a:spcAft>
              <a:buClr>
                <a:schemeClr val="accent1"/>
              </a:buClr>
              <a:buSzPts val="2000"/>
              <a:buFont typeface="Calibri"/>
              <a:buNone/>
              <a:defRPr b="0" i="0" sz="2000" u="none" cap="none" strike="noStrike">
                <a:solidFill>
                  <a:srgbClr val="3F3F3F"/>
                </a:solidFill>
                <a:latin typeface="Libre Franklin"/>
                <a:ea typeface="Libre Franklin"/>
                <a:cs typeface="Libre Franklin"/>
                <a:sym typeface="Libre Franklin"/>
              </a:defRPr>
            </a:lvl9pPr>
          </a:lstStyle>
          <a:p/>
        </p:txBody>
      </p:sp>
      <p:sp>
        <p:nvSpPr>
          <p:cNvPr id="92" name="Google Shape;92;p29"/>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l">
              <a:lnSpc>
                <a:spcPct val="90000"/>
              </a:lnSpc>
              <a:spcBef>
                <a:spcPts val="0"/>
              </a:spcBef>
              <a:spcAft>
                <a:spcPts val="0"/>
              </a:spcAft>
              <a:buClr>
                <a:srgbClr val="FFFFFF"/>
              </a:buClr>
              <a:buSzPts val="3600"/>
              <a:buFont typeface="Bookman Old Style"/>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9"/>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1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Clr>
                <a:srgbClr val="3F3F3F"/>
              </a:buClr>
              <a:buSzPts val="1200"/>
              <a:buNone/>
              <a:defRPr sz="1200"/>
            </a:lvl2pPr>
            <a:lvl3pPr indent="-228600" lvl="2" marL="1371600" algn="l">
              <a:lnSpc>
                <a:spcPct val="100000"/>
              </a:lnSpc>
              <a:spcBef>
                <a:spcPts val="400"/>
              </a:spcBef>
              <a:spcAft>
                <a:spcPts val="0"/>
              </a:spcAft>
              <a:buClr>
                <a:srgbClr val="3F3F3F"/>
              </a:buClr>
              <a:buSzPts val="1000"/>
              <a:buNone/>
              <a:defRPr sz="1000"/>
            </a:lvl3pPr>
            <a:lvl4pPr indent="-228600" lvl="3" marL="1828800" algn="l">
              <a:lnSpc>
                <a:spcPct val="100000"/>
              </a:lnSpc>
              <a:spcBef>
                <a:spcPts val="400"/>
              </a:spcBef>
              <a:spcAft>
                <a:spcPts val="0"/>
              </a:spcAft>
              <a:buClr>
                <a:srgbClr val="3F3F3F"/>
              </a:buClr>
              <a:buSzPts val="900"/>
              <a:buNone/>
              <a:defRPr sz="900"/>
            </a:lvl4pPr>
            <a:lvl5pPr indent="-228600" lvl="4" marL="2286000" algn="l">
              <a:lnSpc>
                <a:spcPct val="100000"/>
              </a:lnSpc>
              <a:spcBef>
                <a:spcPts val="400"/>
              </a:spcBef>
              <a:spcAft>
                <a:spcPts val="0"/>
              </a:spcAft>
              <a:buClr>
                <a:srgbClr val="3F3F3F"/>
              </a:buClr>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94" name="Google Shape;94;p29"/>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9"/>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9"/>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97" name="Shape 97"/>
        <p:cNvGrpSpPr/>
        <p:nvPr/>
      </p:nvGrpSpPr>
      <p:grpSpPr>
        <a:xfrm>
          <a:off x="0" y="0"/>
          <a:ext cx="0" cy="0"/>
          <a:chOff x="0" y="0"/>
          <a:chExt cx="0" cy="0"/>
        </a:xfrm>
      </p:grpSpPr>
      <p:sp>
        <p:nvSpPr>
          <p:cNvPr id="98" name="Google Shape;98;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0"/>
          <p:cNvSpPr txBox="1"/>
          <p:nvPr>
            <p:ph idx="1" type="body"/>
          </p:nvPr>
        </p:nvSpPr>
        <p:spPr>
          <a:xfrm rot="5400000">
            <a:off x="4246034" y="-1040553"/>
            <a:ext cx="3760891" cy="10058400"/>
          </a:xfrm>
          <a:prstGeom prst="rect">
            <a:avLst/>
          </a:prstGeom>
          <a:noFill/>
          <a:ln>
            <a:noFill/>
          </a:ln>
        </p:spPr>
        <p:txBody>
          <a:bodyPr anchorCtr="0" anchor="t" bIns="0" lIns="45700" spcFirstLastPara="1" rIns="45700" wrap="square" tIns="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0" name="Google Shape;100;p30"/>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0"/>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0"/>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showMasterSp="0" type="vertTitleAndTx">
  <p:cSld name="VERTICAL_TITLE_AND_VERTICAL_TEXT">
    <p:spTree>
      <p:nvGrpSpPr>
        <p:cNvPr id="103" name="Shape 103"/>
        <p:cNvGrpSpPr/>
        <p:nvPr/>
      </p:nvGrpSpPr>
      <p:grpSpPr>
        <a:xfrm>
          <a:off x="0" y="0"/>
          <a:ext cx="0" cy="0"/>
          <a:chOff x="0" y="0"/>
          <a:chExt cx="0" cy="0"/>
        </a:xfrm>
      </p:grpSpPr>
      <p:sp>
        <p:nvSpPr>
          <p:cNvPr id="104" name="Google Shape;104;p31"/>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1"/>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1"/>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7" name="Google Shape;107;p31"/>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1"/>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31"/>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dk1"/>
        </a:solidFill>
      </p:bgPr>
    </p:bg>
    <p:spTree>
      <p:nvGrpSpPr>
        <p:cNvPr id="9" name="Shape 9"/>
        <p:cNvGrpSpPr/>
        <p:nvPr/>
      </p:nvGrpSpPr>
      <p:grpSpPr>
        <a:xfrm>
          <a:off x="0" y="0"/>
          <a:ext cx="0" cy="0"/>
          <a:chOff x="0" y="0"/>
          <a:chExt cx="0" cy="0"/>
        </a:xfrm>
      </p:grpSpPr>
      <p:sp>
        <p:nvSpPr>
          <p:cNvPr id="10" name="Google Shape;10;p19"/>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FEFEFE"/>
              </a:buClr>
              <a:buSzPts val="4700"/>
              <a:buFont typeface="Bookman Old Style"/>
              <a:buNone/>
              <a:defRPr b="0" i="0" sz="4700" u="none" cap="none" strike="noStrike">
                <a:solidFill>
                  <a:srgbClr val="FEFEFE"/>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9"/>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lvl1pPr indent="-349250" lvl="0" marL="457200" marR="0" rtl="0" algn="l">
              <a:lnSpc>
                <a:spcPct val="110000"/>
              </a:lnSpc>
              <a:spcBef>
                <a:spcPts val="1200"/>
              </a:spcBef>
              <a:spcAft>
                <a:spcPts val="0"/>
              </a:spcAft>
              <a:buClr>
                <a:schemeClr val="accent1"/>
              </a:buClr>
              <a:buSzPts val="1900"/>
              <a:buFont typeface="Calibri"/>
              <a:buChar char=" "/>
              <a:defRPr b="0" i="0" sz="1900" u="none" cap="none" strike="noStrike">
                <a:solidFill>
                  <a:srgbClr val="FEFEFE"/>
                </a:solidFill>
                <a:latin typeface="Libre Franklin"/>
                <a:ea typeface="Libre Franklin"/>
                <a:cs typeface="Libre Franklin"/>
                <a:sym typeface="Libre Franklin"/>
              </a:defRPr>
            </a:lvl1pPr>
            <a:lvl2pPr indent="-336550" lvl="1" marL="914400" marR="0" rtl="0" algn="l">
              <a:lnSpc>
                <a:spcPct val="100000"/>
              </a:lnSpc>
              <a:spcBef>
                <a:spcPts val="200"/>
              </a:spcBef>
              <a:spcAft>
                <a:spcPts val="0"/>
              </a:spcAft>
              <a:buClr>
                <a:srgbClr val="FEFEFE"/>
              </a:buClr>
              <a:buSzPts val="1700"/>
              <a:buFont typeface="Calibri"/>
              <a:buChar char="◦"/>
              <a:defRPr b="0" i="0" sz="1700" u="none" cap="none" strike="noStrike">
                <a:solidFill>
                  <a:srgbClr val="FEFEFE"/>
                </a:solidFill>
                <a:latin typeface="Libre Franklin"/>
                <a:ea typeface="Libre Franklin"/>
                <a:cs typeface="Libre Franklin"/>
                <a:sym typeface="Libre Franklin"/>
              </a:defRPr>
            </a:lvl2pPr>
            <a:lvl3pPr indent="-311150" lvl="2" marL="1371600" marR="0" rtl="0" algn="l">
              <a:lnSpc>
                <a:spcPct val="100000"/>
              </a:lnSpc>
              <a:spcBef>
                <a:spcPts val="400"/>
              </a:spcBef>
              <a:spcAft>
                <a:spcPts val="0"/>
              </a:spcAft>
              <a:buClr>
                <a:srgbClr val="FEFEFE"/>
              </a:buClr>
              <a:buSzPts val="1300"/>
              <a:buFont typeface="Calibri"/>
              <a:buChar char="◦"/>
              <a:defRPr b="0" i="0" sz="1300" u="none" cap="none" strike="noStrike">
                <a:solidFill>
                  <a:srgbClr val="FEFEFE"/>
                </a:solidFill>
                <a:latin typeface="Libre Franklin"/>
                <a:ea typeface="Libre Franklin"/>
                <a:cs typeface="Libre Franklin"/>
                <a:sym typeface="Libre Franklin"/>
              </a:defRPr>
            </a:lvl3pPr>
            <a:lvl4pPr indent="-311150" lvl="3" marL="1828800" marR="0" rtl="0" algn="l">
              <a:lnSpc>
                <a:spcPct val="100000"/>
              </a:lnSpc>
              <a:spcBef>
                <a:spcPts val="400"/>
              </a:spcBef>
              <a:spcAft>
                <a:spcPts val="0"/>
              </a:spcAft>
              <a:buClr>
                <a:srgbClr val="FEFEFE"/>
              </a:buClr>
              <a:buSzPts val="1300"/>
              <a:buFont typeface="Calibri"/>
              <a:buChar char="◦"/>
              <a:defRPr b="0" i="0" sz="1300" u="none" cap="none" strike="noStrike">
                <a:solidFill>
                  <a:srgbClr val="FEFEFE"/>
                </a:solidFill>
                <a:latin typeface="Libre Franklin"/>
                <a:ea typeface="Libre Franklin"/>
                <a:cs typeface="Libre Franklin"/>
                <a:sym typeface="Libre Franklin"/>
              </a:defRPr>
            </a:lvl4pPr>
            <a:lvl5pPr indent="-311150" lvl="4" marL="2286000" marR="0" rtl="0" algn="l">
              <a:lnSpc>
                <a:spcPct val="100000"/>
              </a:lnSpc>
              <a:spcBef>
                <a:spcPts val="400"/>
              </a:spcBef>
              <a:spcAft>
                <a:spcPts val="0"/>
              </a:spcAft>
              <a:buClr>
                <a:srgbClr val="FEFEFE"/>
              </a:buClr>
              <a:buSzPts val="1300"/>
              <a:buFont typeface="Calibri"/>
              <a:buChar char="◦"/>
              <a:defRPr b="0" i="0" sz="1300" u="none" cap="none" strike="noStrike">
                <a:solidFill>
                  <a:srgbClr val="FEFEFE"/>
                </a:solidFill>
                <a:latin typeface="Libre Franklin"/>
                <a:ea typeface="Libre Franklin"/>
                <a:cs typeface="Libre Franklin"/>
                <a:sym typeface="Libre Franklin"/>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FEFEFE"/>
                </a:solidFill>
                <a:latin typeface="Libre Franklin"/>
                <a:ea typeface="Libre Franklin"/>
                <a:cs typeface="Libre Franklin"/>
                <a:sym typeface="Libre Franklin"/>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FEFEFE"/>
                </a:solidFill>
                <a:latin typeface="Libre Franklin"/>
                <a:ea typeface="Libre Franklin"/>
                <a:cs typeface="Libre Franklin"/>
                <a:sym typeface="Libre Franklin"/>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FEFEFE"/>
                </a:solidFill>
                <a:latin typeface="Libre Franklin"/>
                <a:ea typeface="Libre Franklin"/>
                <a:cs typeface="Libre Franklin"/>
                <a:sym typeface="Libre Franklin"/>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FEFEFE"/>
                </a:solidFill>
                <a:latin typeface="Libre Franklin"/>
                <a:ea typeface="Libre Franklin"/>
                <a:cs typeface="Libre Franklin"/>
                <a:sym typeface="Libre Franklin"/>
              </a:defRPr>
            </a:lvl9pPr>
          </a:lstStyle>
          <a:p/>
        </p:txBody>
      </p:sp>
      <p:sp>
        <p:nvSpPr>
          <p:cNvPr id="13" name="Google Shape;13;p19"/>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800" u="none" cap="none" strike="noStrike">
                <a:solidFill>
                  <a:srgbClr val="FFFFFF"/>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9pPr>
          </a:lstStyle>
          <a:p/>
        </p:txBody>
      </p:sp>
      <p:sp>
        <p:nvSpPr>
          <p:cNvPr id="14" name="Google Shape;14;p19"/>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rgbClr val="FFFFFF"/>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Libre Franklin"/>
                <a:ea typeface="Libre Franklin"/>
                <a:cs typeface="Libre Franklin"/>
                <a:sym typeface="Libre Franklin"/>
              </a:defRPr>
            </a:lvl9pPr>
          </a:lstStyle>
          <a:p/>
        </p:txBody>
      </p:sp>
      <p:sp>
        <p:nvSpPr>
          <p:cNvPr id="15" name="Google Shape;15;p19"/>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cxnSp>
        <p:nvCxnSpPr>
          <p:cNvPr id="16" name="Google Shape;16;p19"/>
          <p:cNvCxnSpPr/>
          <p:nvPr/>
        </p:nvCxnSpPr>
        <p:spPr>
          <a:xfrm>
            <a:off x="1193532" y="1897380"/>
            <a:ext cx="9966960" cy="0"/>
          </a:xfrm>
          <a:prstGeom prst="straightConnector1">
            <a:avLst/>
          </a:prstGeom>
          <a:noFill/>
          <a:ln cap="flat" cmpd="sng" w="12700">
            <a:solidFill>
              <a:srgbClr val="FEFEFE"/>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5" name="Shape 25"/>
        <p:cNvGrpSpPr/>
        <p:nvPr/>
      </p:nvGrpSpPr>
      <p:grpSpPr>
        <a:xfrm>
          <a:off x="0" y="0"/>
          <a:ext cx="0" cy="0"/>
          <a:chOff x="0" y="0"/>
          <a:chExt cx="0" cy="0"/>
        </a:xfrm>
      </p:grpSpPr>
      <p:sp>
        <p:nvSpPr>
          <p:cNvPr id="26" name="Google Shape;26;p18"/>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700"/>
              <a:buFont typeface="Bookman Old Style"/>
              <a:buNone/>
              <a:defRPr b="0" i="0" sz="4700" u="none" cap="none" strike="noStrike">
                <a:solidFill>
                  <a:srgbClr val="3F3F3F"/>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18"/>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lvl1pPr indent="-349250" lvl="0" marL="457200" marR="0" rtl="0" algn="l">
              <a:lnSpc>
                <a:spcPct val="110000"/>
              </a:lnSpc>
              <a:spcBef>
                <a:spcPts val="1200"/>
              </a:spcBef>
              <a:spcAft>
                <a:spcPts val="0"/>
              </a:spcAft>
              <a:buClr>
                <a:schemeClr val="accent1"/>
              </a:buClr>
              <a:buSzPts val="1900"/>
              <a:buFont typeface="Calibri"/>
              <a:buChar char=" "/>
              <a:defRPr b="0" i="0" sz="1900" u="none" cap="none" strike="noStrike">
                <a:solidFill>
                  <a:srgbClr val="3F3F3F"/>
                </a:solidFill>
                <a:latin typeface="Libre Franklin"/>
                <a:ea typeface="Libre Franklin"/>
                <a:cs typeface="Libre Franklin"/>
                <a:sym typeface="Libre Franklin"/>
              </a:defRPr>
            </a:lvl1pPr>
            <a:lvl2pPr indent="-336550" lvl="1" marL="914400" marR="0" rtl="0" algn="l">
              <a:lnSpc>
                <a:spcPct val="100000"/>
              </a:lnSpc>
              <a:spcBef>
                <a:spcPts val="200"/>
              </a:spcBef>
              <a:spcAft>
                <a:spcPts val="0"/>
              </a:spcAft>
              <a:buClr>
                <a:srgbClr val="3F3F3F"/>
              </a:buClr>
              <a:buSzPts val="1700"/>
              <a:buFont typeface="Calibri"/>
              <a:buChar char="◦"/>
              <a:defRPr b="0" i="0" sz="1700" u="none" cap="none" strike="noStrike">
                <a:solidFill>
                  <a:srgbClr val="3F3F3F"/>
                </a:solidFill>
                <a:latin typeface="Libre Franklin"/>
                <a:ea typeface="Libre Franklin"/>
                <a:cs typeface="Libre Franklin"/>
                <a:sym typeface="Libre Franklin"/>
              </a:defRPr>
            </a:lvl2pPr>
            <a:lvl3pPr indent="-311150" lvl="2" marL="13716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3pPr>
            <a:lvl4pPr indent="-311150" lvl="3" marL="18288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4pPr>
            <a:lvl5pPr indent="-311150" lvl="4" marL="22860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9pPr>
          </a:lstStyle>
          <a:p/>
        </p:txBody>
      </p:sp>
      <p:sp>
        <p:nvSpPr>
          <p:cNvPr id="29" name="Google Shape;29;p18"/>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800" u="none" cap="none" strike="noStrike">
                <a:solidFill>
                  <a:srgbClr val="FFFFFF"/>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9pPr>
          </a:lstStyle>
          <a:p/>
        </p:txBody>
      </p:sp>
      <p:sp>
        <p:nvSpPr>
          <p:cNvPr id="30" name="Google Shape;30;p18"/>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rgbClr val="FFFFFF"/>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9pPr>
          </a:lstStyle>
          <a:p/>
        </p:txBody>
      </p:sp>
      <p:sp>
        <p:nvSpPr>
          <p:cNvPr id="31" name="Google Shape;31;p18"/>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cxnSp>
        <p:nvCxnSpPr>
          <p:cNvPr id="32" name="Google Shape;32;p18"/>
          <p:cNvCxnSpPr/>
          <p:nvPr/>
        </p:nvCxnSpPr>
        <p:spPr>
          <a:xfrm>
            <a:off x="1193532" y="1897380"/>
            <a:ext cx="9966960" cy="0"/>
          </a:xfrm>
          <a:prstGeom prst="straightConnector1">
            <a:avLst/>
          </a:prstGeom>
          <a:noFill/>
          <a:ln cap="flat" cmpd="sng" w="12700">
            <a:solidFill>
              <a:srgbClr val="3F3F3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cms.gov/Research-Statistics-Data-and-Systems/Statistics-Trends-and-Reports/NationalHealthExpendData/NationalHealthAccountsHistorical" TargetMode="External"/><Relationship Id="rId4" Type="http://schemas.openxmlformats.org/officeDocument/2006/relationships/hyperlink" Target="https://www.kaggle.com/spittman1248/cdc-data-nutrition-physical-activity-obesit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dk1"/>
        </a:solidFill>
      </p:bgPr>
    </p:bg>
    <p:spTree>
      <p:nvGrpSpPr>
        <p:cNvPr id="114" name="Shape 114"/>
        <p:cNvGrpSpPr/>
        <p:nvPr/>
      </p:nvGrpSpPr>
      <p:grpSpPr>
        <a:xfrm>
          <a:off x="0" y="0"/>
          <a:ext cx="0" cy="0"/>
          <a:chOff x="0" y="0"/>
          <a:chExt cx="0" cy="0"/>
        </a:xfrm>
      </p:grpSpPr>
      <p:sp>
        <p:nvSpPr>
          <p:cNvPr id="115" name="Google Shape;115;p1"/>
          <p:cNvSpPr/>
          <p:nvPr/>
        </p:nvSpPr>
        <p:spPr>
          <a:xfrm>
            <a:off x="-1" y="3118982"/>
            <a:ext cx="7537704" cy="2462668"/>
          </a:xfrm>
          <a:prstGeom prst="rect">
            <a:avLst/>
          </a:prstGeom>
          <a:solidFill>
            <a:schemeClr val="dk1">
              <a:alpha val="8431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pic>
        <p:nvPicPr>
          <p:cNvPr id="116" name="Google Shape;116;p1"/>
          <p:cNvPicPr preferRelativeResize="0"/>
          <p:nvPr/>
        </p:nvPicPr>
        <p:blipFill rotWithShape="1">
          <a:blip r:embed="rId3">
            <a:alphaModFix/>
          </a:blip>
          <a:srcRect b="0" l="0" r="0" t="0"/>
          <a:stretch/>
        </p:blipFill>
        <p:spPr>
          <a:xfrm>
            <a:off x="-1" y="10"/>
            <a:ext cx="12191999" cy="6857990"/>
          </a:xfrm>
          <a:prstGeom prst="rect">
            <a:avLst/>
          </a:prstGeom>
          <a:noFill/>
          <a:ln>
            <a:noFill/>
          </a:ln>
        </p:spPr>
      </p:pic>
      <p:sp>
        <p:nvSpPr>
          <p:cNvPr id="117" name="Google Shape;117;p1"/>
          <p:cNvSpPr txBox="1"/>
          <p:nvPr>
            <p:ph type="ctrTitle"/>
          </p:nvPr>
        </p:nvSpPr>
        <p:spPr>
          <a:xfrm>
            <a:off x="0" y="2299832"/>
            <a:ext cx="7537703" cy="2260918"/>
          </a:xfrm>
          <a:prstGeom prst="rect">
            <a:avLst/>
          </a:prstGeom>
          <a:solidFill>
            <a:schemeClr val="dk1"/>
          </a:solid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4860"/>
              <a:buFont typeface="Bookman Old Style"/>
              <a:buNone/>
            </a:pPr>
            <a:r>
              <a:rPr lang="en-US" sz="4860">
                <a:solidFill>
                  <a:schemeClr val="lt1"/>
                </a:solidFill>
              </a:rPr>
              <a:t>Obesity and Health Care Costs in the Medicare Population</a:t>
            </a:r>
            <a:endParaRPr/>
          </a:p>
        </p:txBody>
      </p:sp>
      <p:sp>
        <p:nvSpPr>
          <p:cNvPr id="118" name="Google Shape;118;p1"/>
          <p:cNvSpPr txBox="1"/>
          <p:nvPr>
            <p:ph idx="1" type="subTitle"/>
          </p:nvPr>
        </p:nvSpPr>
        <p:spPr>
          <a:xfrm>
            <a:off x="735790" y="4735799"/>
            <a:ext cx="11625971" cy="605256"/>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2400"/>
              <a:buNone/>
            </a:pPr>
            <a:r>
              <a:rPr lang="en-US"/>
              <a:t>STUDY GROUP: DANIEL LOVE, RYAN WIN, LUISA ZINI AND SHAUN RAMIREZ</a:t>
            </a:r>
            <a:endParaRPr/>
          </a:p>
        </p:txBody>
      </p:sp>
      <p:cxnSp>
        <p:nvCxnSpPr>
          <p:cNvPr id="119" name="Google Shape;119;p1"/>
          <p:cNvCxnSpPr/>
          <p:nvPr/>
        </p:nvCxnSpPr>
        <p:spPr>
          <a:xfrm>
            <a:off x="772429" y="4641183"/>
            <a:ext cx="6309360" cy="0"/>
          </a:xfrm>
          <a:prstGeom prst="straightConnector1">
            <a:avLst/>
          </a:prstGeom>
          <a:noFill/>
          <a:ln cap="flat" cmpd="sng" w="19050">
            <a:solidFill>
              <a:schemeClr val="accent1">
                <a:alpha val="89411"/>
              </a:schemeClr>
            </a:solidFill>
            <a:prstDash val="solid"/>
            <a:round/>
            <a:headEnd len="sm" w="sm" type="none"/>
            <a:tailEnd len="sm" w="sm" type="none"/>
          </a:ln>
        </p:spPr>
      </p:cxnSp>
      <p:sp>
        <p:nvSpPr>
          <p:cNvPr id="120" name="Google Shape;120;p1"/>
          <p:cNvSpPr/>
          <p:nvPr/>
        </p:nvSpPr>
        <p:spPr>
          <a:xfrm>
            <a:off x="1" y="6400800"/>
            <a:ext cx="12192000" cy="457200"/>
          </a:xfrm>
          <a:prstGeom prst="rect">
            <a:avLst/>
          </a:prstGeom>
          <a:solidFill>
            <a:srgbClr val="262626">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5" name="Shape 125"/>
        <p:cNvGrpSpPr/>
        <p:nvPr/>
      </p:nvGrpSpPr>
      <p:grpSpPr>
        <a:xfrm>
          <a:off x="0" y="0"/>
          <a:ext cx="0" cy="0"/>
          <a:chOff x="0" y="0"/>
          <a:chExt cx="0" cy="0"/>
        </a:xfrm>
      </p:grpSpPr>
      <p:sp>
        <p:nvSpPr>
          <p:cNvPr id="126" name="Google Shape;126;p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Questions</a:t>
            </a:r>
            <a:endParaRPr/>
          </a:p>
        </p:txBody>
      </p:sp>
      <p:sp>
        <p:nvSpPr>
          <p:cNvPr id="127" name="Google Shape;127;p2"/>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p>
            <a:pPr indent="-91440" lvl="0" marL="91440" rtl="0" algn="l">
              <a:lnSpc>
                <a:spcPct val="110000"/>
              </a:lnSpc>
              <a:spcBef>
                <a:spcPts val="0"/>
              </a:spcBef>
              <a:spcAft>
                <a:spcPts val="0"/>
              </a:spcAft>
              <a:buSzPts val="2000"/>
              <a:buChar char=" "/>
            </a:pPr>
            <a:r>
              <a:rPr b="1" lang="en-US" sz="2000">
                <a:solidFill>
                  <a:schemeClr val="dk1"/>
                </a:solidFill>
              </a:rPr>
              <a:t>Null Hypothesis</a:t>
            </a:r>
            <a:br>
              <a:rPr b="1" lang="en-US" sz="2000">
                <a:solidFill>
                  <a:schemeClr val="dk1"/>
                </a:solidFill>
              </a:rPr>
            </a:br>
            <a:r>
              <a:rPr lang="en-US" sz="2000">
                <a:solidFill>
                  <a:schemeClr val="dk1"/>
                </a:solidFill>
              </a:rPr>
              <a:t>There is no relationship between obesity in adults aged 65 and over and medicare spending (costs)</a:t>
            </a:r>
            <a:endParaRPr/>
          </a:p>
          <a:p>
            <a:pPr indent="35560" lvl="0" marL="91440" rtl="0" algn="l">
              <a:lnSpc>
                <a:spcPct val="110000"/>
              </a:lnSpc>
              <a:spcBef>
                <a:spcPts val="0"/>
              </a:spcBef>
              <a:spcAft>
                <a:spcPts val="0"/>
              </a:spcAft>
              <a:buSzPts val="2000"/>
              <a:buNone/>
            </a:pPr>
            <a:r>
              <a:t/>
            </a:r>
            <a:endParaRPr sz="2000"/>
          </a:p>
          <a:p>
            <a:pPr indent="-91440" lvl="0" marL="91440" rtl="0" algn="l">
              <a:lnSpc>
                <a:spcPct val="110000"/>
              </a:lnSpc>
              <a:spcBef>
                <a:spcPts val="1400"/>
              </a:spcBef>
              <a:spcAft>
                <a:spcPts val="0"/>
              </a:spcAft>
              <a:buSzPts val="2000"/>
              <a:buChar char=" "/>
            </a:pPr>
            <a:r>
              <a:rPr b="1" lang="en-US" sz="2000"/>
              <a:t>AIM</a:t>
            </a:r>
            <a:br>
              <a:rPr b="1" lang="en-US" sz="2000"/>
            </a:br>
            <a:r>
              <a:rPr lang="en-US" sz="2000"/>
              <a:t>To show general trends in healthcare expenditures for the Medicare population as compared to obesity trends for the years 2011-2016.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2" name="Shape 132"/>
        <p:cNvGrpSpPr/>
        <p:nvPr/>
      </p:nvGrpSpPr>
      <p:grpSpPr>
        <a:xfrm>
          <a:off x="0" y="0"/>
          <a:ext cx="0" cy="0"/>
          <a:chOff x="0" y="0"/>
          <a:chExt cx="0" cy="0"/>
        </a:xfrm>
      </p:grpSpPr>
      <p:sp>
        <p:nvSpPr>
          <p:cNvPr id="133" name="Google Shape;133;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Data Collection</a:t>
            </a:r>
            <a:endParaRPr/>
          </a:p>
        </p:txBody>
      </p:sp>
      <p:sp>
        <p:nvSpPr>
          <p:cNvPr id="134" name="Google Shape;134;p3"/>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p>
            <a:pPr indent="-120650" lvl="0" marL="91440" rtl="0" algn="l">
              <a:lnSpc>
                <a:spcPct val="110000"/>
              </a:lnSpc>
              <a:spcBef>
                <a:spcPts val="0"/>
              </a:spcBef>
              <a:spcAft>
                <a:spcPts val="0"/>
              </a:spcAft>
              <a:buClr>
                <a:schemeClr val="dk1"/>
              </a:buClr>
              <a:buSzPts val="1900"/>
              <a:buFont typeface="Courier New"/>
              <a:buChar char="o"/>
            </a:pPr>
            <a:r>
              <a:rPr lang="en-US">
                <a:solidFill>
                  <a:schemeClr val="dk1"/>
                </a:solidFill>
              </a:rPr>
              <a:t> </a:t>
            </a:r>
            <a:r>
              <a:rPr lang="en-US"/>
              <a:t>Health expenditures data were primarily pulled and downloaded from the Center’s for Medicaid &amp; Medicare. Source: The National Health Expenditure Accounts (NHEA)</a:t>
            </a:r>
            <a:endParaRPr/>
          </a:p>
          <a:p>
            <a:pPr indent="-120650" lvl="0" marL="91440" rtl="0" algn="l">
              <a:lnSpc>
                <a:spcPct val="110000"/>
              </a:lnSpc>
              <a:spcBef>
                <a:spcPts val="1400"/>
              </a:spcBef>
              <a:spcAft>
                <a:spcPts val="0"/>
              </a:spcAft>
              <a:buClr>
                <a:schemeClr val="dk1"/>
              </a:buClr>
              <a:buSzPts val="1900"/>
              <a:buFont typeface="Courier New"/>
              <a:buChar char="o"/>
            </a:pPr>
            <a:r>
              <a:rPr lang="en-US"/>
              <a:t> Obesity data was collected from Kaggle.com. Source: Youth Risk Behavior Surveillance System (YRBBS 2016)</a:t>
            </a:r>
            <a:endParaRPr/>
          </a:p>
          <a:p>
            <a:pPr indent="-120650" lvl="0" marL="91440" rtl="0" algn="l">
              <a:lnSpc>
                <a:spcPct val="110000"/>
              </a:lnSpc>
              <a:spcBef>
                <a:spcPts val="1400"/>
              </a:spcBef>
              <a:spcAft>
                <a:spcPts val="0"/>
              </a:spcAft>
              <a:buClr>
                <a:schemeClr val="dk1"/>
              </a:buClr>
              <a:buSzPts val="1900"/>
              <a:buFont typeface="Courier New"/>
              <a:buChar char="o"/>
            </a:pPr>
            <a:r>
              <a:rPr lang="en-US"/>
              <a:t> References: </a:t>
            </a:r>
            <a:endParaRPr/>
          </a:p>
          <a:p>
            <a:pPr indent="-182880" lvl="1" marL="384048" rtl="0" algn="l">
              <a:lnSpc>
                <a:spcPct val="100000"/>
              </a:lnSpc>
              <a:spcBef>
                <a:spcPts val="400"/>
              </a:spcBef>
              <a:spcAft>
                <a:spcPts val="0"/>
              </a:spcAft>
              <a:buClr>
                <a:schemeClr val="dk1"/>
              </a:buClr>
              <a:buSzPts val="1700"/>
              <a:buFont typeface="Courier New"/>
              <a:buChar char="o"/>
            </a:pPr>
            <a:r>
              <a:rPr lang="en-US" u="sng">
                <a:solidFill>
                  <a:schemeClr val="hlink"/>
                </a:solidFill>
                <a:hlinkClick r:id="rId3"/>
              </a:rPr>
              <a:t>https://www.cms.gov/Research-Statistics-Data-and-Systems/Statistics-Trends-and-Reports/NationalHealthExpendData/NationalHealthAccountsHistorical</a:t>
            </a:r>
            <a:endParaRPr/>
          </a:p>
          <a:p>
            <a:pPr indent="-182880" lvl="1" marL="384048" rtl="0" algn="l">
              <a:lnSpc>
                <a:spcPct val="100000"/>
              </a:lnSpc>
              <a:spcBef>
                <a:spcPts val="600"/>
              </a:spcBef>
              <a:spcAft>
                <a:spcPts val="0"/>
              </a:spcAft>
              <a:buClr>
                <a:schemeClr val="dk1"/>
              </a:buClr>
              <a:buSzPts val="1700"/>
              <a:buFont typeface="Courier New"/>
              <a:buChar char="o"/>
            </a:pPr>
            <a:r>
              <a:rPr lang="en-US" u="sng">
                <a:solidFill>
                  <a:schemeClr val="hlink"/>
                </a:solidFill>
                <a:hlinkClick r:id="rId4"/>
              </a:rPr>
              <a:t>https://www.kaggle.com/spittman1248/cdc-data-nutrition-physical-activity-obesity</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Data Exploration &amp; Wrangling</a:t>
            </a:r>
            <a:endParaRPr/>
          </a:p>
        </p:txBody>
      </p:sp>
      <p:sp>
        <p:nvSpPr>
          <p:cNvPr id="141" name="Google Shape;141;p4"/>
          <p:cNvSpPr txBox="1"/>
          <p:nvPr>
            <p:ph idx="1" type="body"/>
          </p:nvPr>
        </p:nvSpPr>
        <p:spPr>
          <a:xfrm>
            <a:off x="1097275" y="1999825"/>
            <a:ext cx="10058400" cy="3869400"/>
          </a:xfrm>
          <a:prstGeom prst="rect">
            <a:avLst/>
          </a:prstGeom>
          <a:noFill/>
          <a:ln>
            <a:noFill/>
          </a:ln>
        </p:spPr>
        <p:txBody>
          <a:bodyPr anchorCtr="0" anchor="t" bIns="45700" lIns="0" spcFirstLastPara="1" rIns="0" wrap="square" tIns="45700">
            <a:normAutofit/>
          </a:bodyPr>
          <a:lstStyle/>
          <a:p>
            <a:pPr indent="-102552" lvl="0" marL="91440" rtl="0" algn="l">
              <a:lnSpc>
                <a:spcPct val="90000"/>
              </a:lnSpc>
              <a:spcBef>
                <a:spcPts val="0"/>
              </a:spcBef>
              <a:spcAft>
                <a:spcPts val="0"/>
              </a:spcAft>
              <a:buSzPts val="1615"/>
              <a:buChar char=" "/>
            </a:pPr>
            <a:r>
              <a:rPr b="1" lang="en-US" sz="1615">
                <a:solidFill>
                  <a:schemeClr val="dk1"/>
                </a:solidFill>
              </a:rPr>
              <a:t>Munging</a:t>
            </a:r>
            <a:endParaRPr>
              <a:solidFill>
                <a:schemeClr val="dk1"/>
              </a:solidFill>
            </a:endParaRPr>
          </a:p>
          <a:p>
            <a:pPr indent="-102552" lvl="0" marL="91440" rtl="0" algn="l">
              <a:lnSpc>
                <a:spcPct val="90000"/>
              </a:lnSpc>
              <a:spcBef>
                <a:spcPts val="1400"/>
              </a:spcBef>
              <a:spcAft>
                <a:spcPts val="0"/>
              </a:spcAft>
              <a:buClr>
                <a:schemeClr val="dk1"/>
              </a:buClr>
              <a:buSzPts val="1615"/>
              <a:buFont typeface="Courier New"/>
              <a:buChar char="o"/>
            </a:pPr>
            <a:r>
              <a:rPr lang="en-US" sz="1615">
                <a:solidFill>
                  <a:schemeClr val="dk1"/>
                </a:solidFill>
              </a:rPr>
              <a:t> Jupyter Notebooks</a:t>
            </a:r>
            <a:endParaRPr>
              <a:solidFill>
                <a:schemeClr val="dk1"/>
              </a:solidFill>
            </a:endParaRPr>
          </a:p>
          <a:p>
            <a:pPr indent="-182880" lvl="1" marL="384048" rtl="0" algn="l">
              <a:lnSpc>
                <a:spcPct val="80000"/>
              </a:lnSpc>
              <a:spcBef>
                <a:spcPts val="400"/>
              </a:spcBef>
              <a:spcAft>
                <a:spcPts val="0"/>
              </a:spcAft>
              <a:buClr>
                <a:schemeClr val="dk1"/>
              </a:buClr>
              <a:buSzPts val="1445"/>
              <a:buFont typeface="Courier New"/>
              <a:buChar char="o"/>
            </a:pPr>
            <a:r>
              <a:rPr lang="en-US" sz="1445">
                <a:solidFill>
                  <a:schemeClr val="dk1"/>
                </a:solidFill>
              </a:rPr>
              <a:t>Pandas</a:t>
            </a:r>
            <a:endParaRPr>
              <a:solidFill>
                <a:schemeClr val="dk1"/>
              </a:solidFill>
            </a:endParaRPr>
          </a:p>
          <a:p>
            <a:pPr indent="-182880" lvl="1" marL="384048" rtl="0" algn="l">
              <a:lnSpc>
                <a:spcPct val="80000"/>
              </a:lnSpc>
              <a:spcBef>
                <a:spcPts val="600"/>
              </a:spcBef>
              <a:spcAft>
                <a:spcPts val="0"/>
              </a:spcAft>
              <a:buClr>
                <a:schemeClr val="dk1"/>
              </a:buClr>
              <a:buSzPts val="1445"/>
              <a:buFont typeface="Courier New"/>
              <a:buChar char="o"/>
            </a:pPr>
            <a:r>
              <a:rPr lang="en-US" sz="1445">
                <a:solidFill>
                  <a:schemeClr val="dk1"/>
                </a:solidFill>
              </a:rPr>
              <a:t>Matplotlib.pyplot</a:t>
            </a:r>
            <a:endParaRPr sz="1445">
              <a:solidFill>
                <a:schemeClr val="dk1"/>
              </a:solidFill>
            </a:endParaRPr>
          </a:p>
          <a:p>
            <a:pPr indent="-182880" lvl="1" marL="384048" rtl="0" algn="l">
              <a:lnSpc>
                <a:spcPct val="80000"/>
              </a:lnSpc>
              <a:spcBef>
                <a:spcPts val="600"/>
              </a:spcBef>
              <a:spcAft>
                <a:spcPts val="0"/>
              </a:spcAft>
              <a:buSzPts val="1445"/>
              <a:buChar char="o"/>
            </a:pPr>
            <a:r>
              <a:rPr lang="en-US" sz="1445">
                <a:solidFill>
                  <a:schemeClr val="dk1"/>
                </a:solidFill>
              </a:rPr>
              <a:t>Folium</a:t>
            </a:r>
            <a:endParaRPr sz="1445">
              <a:solidFill>
                <a:schemeClr val="dk1"/>
              </a:solidFill>
            </a:endParaRPr>
          </a:p>
          <a:p>
            <a:pPr indent="-102552" lvl="0" marL="91440" rtl="0" algn="l">
              <a:lnSpc>
                <a:spcPct val="90000"/>
              </a:lnSpc>
              <a:spcBef>
                <a:spcPts val="1600"/>
              </a:spcBef>
              <a:spcAft>
                <a:spcPts val="0"/>
              </a:spcAft>
              <a:buClr>
                <a:schemeClr val="dk1"/>
              </a:buClr>
              <a:buSzPts val="1615"/>
              <a:buFont typeface="Courier New"/>
              <a:buChar char="o"/>
            </a:pPr>
            <a:r>
              <a:rPr lang="en-US" sz="1615">
                <a:solidFill>
                  <a:schemeClr val="dk1"/>
                </a:solidFill>
              </a:rPr>
              <a:t> Excel</a:t>
            </a:r>
            <a:endParaRPr>
              <a:solidFill>
                <a:schemeClr val="dk1"/>
              </a:solidFill>
            </a:endParaRPr>
          </a:p>
          <a:p>
            <a:pPr indent="-102552" lvl="0" marL="91440" rtl="0" algn="l">
              <a:lnSpc>
                <a:spcPct val="90000"/>
              </a:lnSpc>
              <a:spcBef>
                <a:spcPts val="1400"/>
              </a:spcBef>
              <a:spcAft>
                <a:spcPts val="0"/>
              </a:spcAft>
              <a:buSzPts val="1615"/>
              <a:buChar char=" "/>
            </a:pPr>
            <a:r>
              <a:rPr b="1" lang="en-US" sz="1615">
                <a:solidFill>
                  <a:schemeClr val="dk1"/>
                </a:solidFill>
              </a:rPr>
              <a:t>Insights and Issues</a:t>
            </a:r>
            <a:endParaRPr>
              <a:solidFill>
                <a:schemeClr val="dk1"/>
              </a:solidFill>
            </a:endParaRPr>
          </a:p>
          <a:p>
            <a:pPr indent="-102552" lvl="0" marL="91440" rtl="0" algn="l">
              <a:lnSpc>
                <a:spcPct val="90000"/>
              </a:lnSpc>
              <a:spcBef>
                <a:spcPts val="1400"/>
              </a:spcBef>
              <a:spcAft>
                <a:spcPts val="0"/>
              </a:spcAft>
              <a:buClr>
                <a:schemeClr val="dk1"/>
              </a:buClr>
              <a:buSzPts val="1615"/>
              <a:buFont typeface="Courier New"/>
              <a:buChar char="o"/>
            </a:pPr>
            <a:r>
              <a:rPr lang="en-US" sz="1615">
                <a:solidFill>
                  <a:schemeClr val="dk1"/>
                </a:solidFill>
              </a:rPr>
              <a:t> Locating the “right” data sets</a:t>
            </a:r>
            <a:endParaRPr>
              <a:solidFill>
                <a:schemeClr val="dk1"/>
              </a:solidFill>
            </a:endParaRPr>
          </a:p>
          <a:p>
            <a:pPr indent="-102552" lvl="0" marL="91440" rtl="0" algn="l">
              <a:lnSpc>
                <a:spcPct val="90000"/>
              </a:lnSpc>
              <a:spcBef>
                <a:spcPts val="1400"/>
              </a:spcBef>
              <a:spcAft>
                <a:spcPts val="0"/>
              </a:spcAft>
              <a:buClr>
                <a:schemeClr val="dk1"/>
              </a:buClr>
              <a:buSzPts val="1615"/>
              <a:buFont typeface="Courier New"/>
              <a:buChar char="o"/>
            </a:pPr>
            <a:r>
              <a:rPr lang="en-US" sz="1615">
                <a:solidFill>
                  <a:schemeClr val="dk1"/>
                </a:solidFill>
              </a:rPr>
              <a:t> Limitations on Data</a:t>
            </a:r>
            <a:endParaRPr>
              <a:solidFill>
                <a:schemeClr val="dk1"/>
              </a:solidFill>
            </a:endParaRPr>
          </a:p>
          <a:p>
            <a:pPr indent="-102552" lvl="0" marL="91440" rtl="0" algn="l">
              <a:lnSpc>
                <a:spcPct val="90000"/>
              </a:lnSpc>
              <a:spcBef>
                <a:spcPts val="1400"/>
              </a:spcBef>
              <a:spcAft>
                <a:spcPts val="0"/>
              </a:spcAft>
              <a:buClr>
                <a:schemeClr val="dk1"/>
              </a:buClr>
              <a:buSzPts val="1615"/>
              <a:buFont typeface="Courier New"/>
              <a:buChar char="o"/>
            </a:pPr>
            <a:r>
              <a:rPr lang="en-US" sz="1615">
                <a:solidFill>
                  <a:schemeClr val="dk1"/>
                </a:solidFill>
              </a:rPr>
              <a:t> Data reported/represented differently</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5" name="Shape 145"/>
        <p:cNvGrpSpPr/>
        <p:nvPr/>
      </p:nvGrpSpPr>
      <p:grpSpPr>
        <a:xfrm>
          <a:off x="0" y="0"/>
          <a:ext cx="0" cy="0"/>
          <a:chOff x="0" y="0"/>
          <a:chExt cx="0" cy="0"/>
        </a:xfrm>
      </p:grpSpPr>
      <p:sp>
        <p:nvSpPr>
          <p:cNvPr id="146" name="Google Shape;146;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Comparison Process</a:t>
            </a:r>
            <a:endParaRPr/>
          </a:p>
        </p:txBody>
      </p:sp>
      <p:sp>
        <p:nvSpPr>
          <p:cNvPr id="147" name="Google Shape;147;p5"/>
          <p:cNvSpPr txBox="1"/>
          <p:nvPr>
            <p:ph idx="1" type="body"/>
          </p:nvPr>
        </p:nvSpPr>
        <p:spPr>
          <a:xfrm>
            <a:off x="1097279" y="2108201"/>
            <a:ext cx="10691949" cy="3760891"/>
          </a:xfrm>
          <a:prstGeom prst="rect">
            <a:avLst/>
          </a:prstGeom>
          <a:noFill/>
          <a:ln>
            <a:noFill/>
          </a:ln>
        </p:spPr>
        <p:txBody>
          <a:bodyPr anchorCtr="0" anchor="t" bIns="45700" lIns="0" spcFirstLastPara="1" rIns="0" wrap="square" tIns="45700">
            <a:normAutofit/>
          </a:bodyPr>
          <a:lstStyle/>
          <a:p>
            <a:pPr indent="-91440" lvl="0" marL="91440" rtl="0" algn="l">
              <a:lnSpc>
                <a:spcPct val="110000"/>
              </a:lnSpc>
              <a:spcBef>
                <a:spcPts val="0"/>
              </a:spcBef>
              <a:spcAft>
                <a:spcPts val="0"/>
              </a:spcAft>
              <a:buClr>
                <a:schemeClr val="dk1"/>
              </a:buClr>
              <a:buSzPts val="2400"/>
              <a:buFont typeface="Courier New"/>
              <a:buChar char="o"/>
            </a:pPr>
            <a:r>
              <a:rPr lang="en-US" sz="2400"/>
              <a:t> An overview of the issue of increasing healthcare costs</a:t>
            </a:r>
            <a:endParaRPr sz="2400"/>
          </a:p>
          <a:p>
            <a:pPr indent="-91440" lvl="0" marL="91440" rtl="0" algn="l">
              <a:lnSpc>
                <a:spcPct val="110000"/>
              </a:lnSpc>
              <a:spcBef>
                <a:spcPts val="1400"/>
              </a:spcBef>
              <a:spcAft>
                <a:spcPts val="0"/>
              </a:spcAft>
              <a:buClr>
                <a:schemeClr val="dk1"/>
              </a:buClr>
              <a:buSzPts val="2800"/>
              <a:buFont typeface="Courier New"/>
              <a:buChar char="o"/>
            </a:pPr>
            <a:r>
              <a:rPr lang="en-US" sz="2400"/>
              <a:t> Additional Data for context</a:t>
            </a:r>
            <a:endParaRPr sz="2400"/>
          </a:p>
          <a:p>
            <a:pPr indent="-177800" lvl="0" marL="0" rtl="0" algn="l">
              <a:lnSpc>
                <a:spcPct val="110000"/>
              </a:lnSpc>
              <a:spcBef>
                <a:spcPts val="1400"/>
              </a:spcBef>
              <a:spcAft>
                <a:spcPts val="0"/>
              </a:spcAft>
              <a:buClr>
                <a:schemeClr val="dk1"/>
              </a:buClr>
              <a:buSzPts val="2800"/>
              <a:buFont typeface="Courier New"/>
              <a:buChar char="o"/>
            </a:pPr>
            <a:r>
              <a:rPr lang="en-US" sz="2400"/>
              <a:t> Comparison of US states obesity proportions with Medicare costs per capita</a:t>
            </a:r>
            <a:endParaRPr sz="2400"/>
          </a:p>
          <a:p>
            <a:pPr indent="-457200" lvl="1" marL="749808" rtl="0" algn="l">
              <a:lnSpc>
                <a:spcPct val="100000"/>
              </a:lnSpc>
              <a:spcBef>
                <a:spcPts val="400"/>
              </a:spcBef>
              <a:spcAft>
                <a:spcPts val="0"/>
              </a:spcAft>
              <a:buClr>
                <a:schemeClr val="dk1"/>
              </a:buClr>
              <a:buSzPts val="2400"/>
              <a:buFont typeface="Courier New"/>
              <a:buChar char="o"/>
            </a:pPr>
            <a:r>
              <a:rPr lang="en-US" sz="2000"/>
              <a:t>Line Graphs - 10 specific states</a:t>
            </a:r>
            <a:endParaRPr sz="2000"/>
          </a:p>
          <a:p>
            <a:pPr indent="-457200" lvl="1" marL="749808" rtl="0" algn="l">
              <a:lnSpc>
                <a:spcPct val="100000"/>
              </a:lnSpc>
              <a:spcBef>
                <a:spcPts val="600"/>
              </a:spcBef>
              <a:spcAft>
                <a:spcPts val="0"/>
              </a:spcAft>
              <a:buClr>
                <a:schemeClr val="dk1"/>
              </a:buClr>
              <a:buSzPts val="2400"/>
              <a:buFont typeface="Courier New"/>
              <a:buChar char="o"/>
            </a:pPr>
            <a:r>
              <a:rPr lang="en-US" sz="2000"/>
              <a:t>Heatmaps and Choropleth map - all states</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1" name="Shape 151"/>
        <p:cNvGrpSpPr/>
        <p:nvPr/>
      </p:nvGrpSpPr>
      <p:grpSpPr>
        <a:xfrm>
          <a:off x="0" y="0"/>
          <a:ext cx="0" cy="0"/>
          <a:chOff x="0" y="0"/>
          <a:chExt cx="0" cy="0"/>
        </a:xfrm>
      </p:grpSpPr>
      <p:pic>
        <p:nvPicPr>
          <p:cNvPr id="152" name="Google Shape;152;p9"/>
          <p:cNvPicPr preferRelativeResize="0"/>
          <p:nvPr/>
        </p:nvPicPr>
        <p:blipFill rotWithShape="1">
          <a:blip r:embed="rId3">
            <a:alphaModFix/>
          </a:blip>
          <a:srcRect b="0" l="0" r="0" t="0"/>
          <a:stretch/>
        </p:blipFill>
        <p:spPr>
          <a:xfrm>
            <a:off x="478992" y="0"/>
            <a:ext cx="11234016" cy="628772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6" name="Shape 156"/>
        <p:cNvGrpSpPr/>
        <p:nvPr/>
      </p:nvGrpSpPr>
      <p:grpSpPr>
        <a:xfrm>
          <a:off x="0" y="0"/>
          <a:ext cx="0" cy="0"/>
          <a:chOff x="0" y="0"/>
          <a:chExt cx="0" cy="0"/>
        </a:xfrm>
      </p:grpSpPr>
      <p:sp>
        <p:nvSpPr>
          <p:cNvPr id="157" name="Google Shape;157;p8"/>
          <p:cNvSpPr txBox="1"/>
          <p:nvPr/>
        </p:nvSpPr>
        <p:spPr>
          <a:xfrm>
            <a:off x="1097280" y="286603"/>
            <a:ext cx="6684451" cy="702409"/>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rgbClr val="3F3F3F"/>
              </a:buClr>
              <a:buSzPts val="4582"/>
              <a:buFont typeface="Bookman Old Style"/>
              <a:buNone/>
            </a:pPr>
            <a:r>
              <a:rPr b="0" i="0" lang="en-US" sz="4582" u="none" cap="none" strike="noStrike">
                <a:solidFill>
                  <a:srgbClr val="3F3F3F"/>
                </a:solidFill>
                <a:latin typeface="Bookman Old Style"/>
                <a:ea typeface="Bookman Old Style"/>
                <a:cs typeface="Bookman Old Style"/>
                <a:sym typeface="Bookman Old Style"/>
              </a:rPr>
              <a:t>Median Income</a:t>
            </a:r>
            <a:endParaRPr b="0" i="0" sz="1400" u="none" cap="none" strike="noStrike">
              <a:solidFill>
                <a:srgbClr val="000000"/>
              </a:solidFill>
              <a:latin typeface="Arial"/>
              <a:ea typeface="Arial"/>
              <a:cs typeface="Arial"/>
              <a:sym typeface="Arial"/>
            </a:endParaRPr>
          </a:p>
        </p:txBody>
      </p:sp>
      <p:pic>
        <p:nvPicPr>
          <p:cNvPr id="158" name="Google Shape;158;p8"/>
          <p:cNvPicPr preferRelativeResize="0"/>
          <p:nvPr/>
        </p:nvPicPr>
        <p:blipFill rotWithShape="1">
          <a:blip r:embed="rId3">
            <a:alphaModFix/>
          </a:blip>
          <a:srcRect b="0" l="0" r="0" t="0"/>
          <a:stretch/>
        </p:blipFill>
        <p:spPr>
          <a:xfrm>
            <a:off x="0" y="177800"/>
            <a:ext cx="12192000" cy="6502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2" name="Shape 162"/>
        <p:cNvGrpSpPr/>
        <p:nvPr/>
      </p:nvGrpSpPr>
      <p:grpSpPr>
        <a:xfrm>
          <a:off x="0" y="0"/>
          <a:ext cx="0" cy="0"/>
          <a:chOff x="0" y="0"/>
          <a:chExt cx="0" cy="0"/>
        </a:xfrm>
      </p:grpSpPr>
      <p:pic>
        <p:nvPicPr>
          <p:cNvPr id="163" name="Google Shape;163;p6"/>
          <p:cNvPicPr preferRelativeResize="0"/>
          <p:nvPr/>
        </p:nvPicPr>
        <p:blipFill rotWithShape="1">
          <a:blip r:embed="rId3">
            <a:alphaModFix/>
          </a:blip>
          <a:srcRect b="0" l="0" r="0" t="0"/>
          <a:stretch/>
        </p:blipFill>
        <p:spPr>
          <a:xfrm>
            <a:off x="615820" y="140892"/>
            <a:ext cx="10655561" cy="639333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7" name="Shape 167"/>
        <p:cNvGrpSpPr/>
        <p:nvPr/>
      </p:nvGrpSpPr>
      <p:grpSpPr>
        <a:xfrm>
          <a:off x="0" y="0"/>
          <a:ext cx="0" cy="0"/>
          <a:chOff x="0" y="0"/>
          <a:chExt cx="0" cy="0"/>
        </a:xfrm>
      </p:grpSpPr>
      <p:pic>
        <p:nvPicPr>
          <p:cNvPr id="168" name="Google Shape;168;p7"/>
          <p:cNvPicPr preferRelativeResize="0"/>
          <p:nvPr/>
        </p:nvPicPr>
        <p:blipFill rotWithShape="1">
          <a:blip r:embed="rId3">
            <a:alphaModFix/>
          </a:blip>
          <a:srcRect b="0" l="0" r="0" t="0"/>
          <a:stretch/>
        </p:blipFill>
        <p:spPr>
          <a:xfrm>
            <a:off x="380999" y="0"/>
            <a:ext cx="11058331" cy="663499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2" name="Shape 172"/>
        <p:cNvGrpSpPr/>
        <p:nvPr/>
      </p:nvGrpSpPr>
      <p:grpSpPr>
        <a:xfrm>
          <a:off x="0" y="0"/>
          <a:ext cx="0" cy="0"/>
          <a:chOff x="0" y="0"/>
          <a:chExt cx="0" cy="0"/>
        </a:xfrm>
      </p:grpSpPr>
      <p:pic>
        <p:nvPicPr>
          <p:cNvPr id="173" name="Google Shape;173;p10"/>
          <p:cNvPicPr preferRelativeResize="0"/>
          <p:nvPr/>
        </p:nvPicPr>
        <p:blipFill rotWithShape="1">
          <a:blip r:embed="rId3">
            <a:alphaModFix/>
          </a:blip>
          <a:srcRect b="0" l="0" r="0" t="0"/>
          <a:stretch/>
        </p:blipFill>
        <p:spPr>
          <a:xfrm>
            <a:off x="0" y="381000"/>
            <a:ext cx="12192000" cy="6096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7" name="Shape 177"/>
        <p:cNvGrpSpPr/>
        <p:nvPr/>
      </p:nvGrpSpPr>
      <p:grpSpPr>
        <a:xfrm>
          <a:off x="0" y="0"/>
          <a:ext cx="0" cy="0"/>
          <a:chOff x="0" y="0"/>
          <a:chExt cx="0" cy="0"/>
        </a:xfrm>
      </p:grpSpPr>
      <p:pic>
        <p:nvPicPr>
          <p:cNvPr id="178" name="Google Shape;178;p11"/>
          <p:cNvPicPr preferRelativeResize="0"/>
          <p:nvPr/>
        </p:nvPicPr>
        <p:blipFill rotWithShape="1">
          <a:blip r:embed="rId3">
            <a:alphaModFix/>
          </a:blip>
          <a:srcRect b="0" l="0" r="0" t="0"/>
          <a:stretch/>
        </p:blipFill>
        <p:spPr>
          <a:xfrm>
            <a:off x="719091" y="-1"/>
            <a:ext cx="10750859" cy="67115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2" name="Shape 182"/>
        <p:cNvGrpSpPr/>
        <p:nvPr/>
      </p:nvGrpSpPr>
      <p:grpSpPr>
        <a:xfrm>
          <a:off x="0" y="0"/>
          <a:ext cx="0" cy="0"/>
          <a:chOff x="0" y="0"/>
          <a:chExt cx="0" cy="0"/>
        </a:xfrm>
      </p:grpSpPr>
      <p:sp>
        <p:nvSpPr>
          <p:cNvPr id="183" name="Google Shape;183;p13"/>
          <p:cNvSpPr txBox="1"/>
          <p:nvPr/>
        </p:nvSpPr>
        <p:spPr>
          <a:xfrm>
            <a:off x="221550" y="415700"/>
            <a:ext cx="5524200" cy="56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Libre Franklin"/>
                <a:ea typeface="Libre Franklin"/>
                <a:cs typeface="Libre Franklin"/>
                <a:sym typeface="Libre Franklin"/>
              </a:rPr>
              <a:t>Heat Map Cost Per Capita 2011 ($) </a:t>
            </a:r>
            <a:endParaRPr b="0" i="0" sz="2400" u="none" cap="none" strike="noStrike">
              <a:solidFill>
                <a:srgbClr val="000000"/>
              </a:solidFill>
              <a:latin typeface="Arial"/>
              <a:ea typeface="Arial"/>
              <a:cs typeface="Arial"/>
              <a:sym typeface="Arial"/>
            </a:endParaRPr>
          </a:p>
        </p:txBody>
      </p:sp>
      <p:pic>
        <p:nvPicPr>
          <p:cNvPr id="184" name="Google Shape;184;p13"/>
          <p:cNvPicPr preferRelativeResize="0"/>
          <p:nvPr/>
        </p:nvPicPr>
        <p:blipFill rotWithShape="1">
          <a:blip r:embed="rId3">
            <a:alphaModFix/>
          </a:blip>
          <a:srcRect b="0" l="0" r="0" t="0"/>
          <a:stretch/>
        </p:blipFill>
        <p:spPr>
          <a:xfrm>
            <a:off x="152400" y="1036050"/>
            <a:ext cx="5854475" cy="3156325"/>
          </a:xfrm>
          <a:prstGeom prst="rect">
            <a:avLst/>
          </a:prstGeom>
          <a:noFill/>
          <a:ln>
            <a:noFill/>
          </a:ln>
        </p:spPr>
      </p:pic>
      <p:sp>
        <p:nvSpPr>
          <p:cNvPr id="185" name="Google Shape;185;p13"/>
          <p:cNvSpPr txBox="1"/>
          <p:nvPr/>
        </p:nvSpPr>
        <p:spPr>
          <a:xfrm>
            <a:off x="6443550" y="457375"/>
            <a:ext cx="5444400" cy="562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Libre Franklin"/>
                <a:ea typeface="Libre Franklin"/>
                <a:cs typeface="Libre Franklin"/>
                <a:sym typeface="Libre Franklin"/>
              </a:rPr>
              <a:t>Heat Obesity 2011 (%)</a:t>
            </a:r>
            <a:endParaRPr b="0" i="0" sz="2400" u="none" cap="none" strike="noStrike">
              <a:solidFill>
                <a:srgbClr val="000000"/>
              </a:solidFill>
              <a:latin typeface="Arial"/>
              <a:ea typeface="Arial"/>
              <a:cs typeface="Arial"/>
              <a:sym typeface="Arial"/>
            </a:endParaRPr>
          </a:p>
        </p:txBody>
      </p:sp>
      <p:pic>
        <p:nvPicPr>
          <p:cNvPr id="186" name="Google Shape;186;p13"/>
          <p:cNvPicPr preferRelativeResize="0"/>
          <p:nvPr/>
        </p:nvPicPr>
        <p:blipFill rotWithShape="1">
          <a:blip r:embed="rId4">
            <a:alphaModFix/>
          </a:blip>
          <a:srcRect b="0" l="0" r="0" t="0"/>
          <a:stretch/>
        </p:blipFill>
        <p:spPr>
          <a:xfrm>
            <a:off x="6182150" y="1047800"/>
            <a:ext cx="5895400" cy="3156325"/>
          </a:xfrm>
          <a:prstGeom prst="rect">
            <a:avLst/>
          </a:prstGeom>
          <a:noFill/>
          <a:ln>
            <a:noFill/>
          </a:ln>
        </p:spPr>
      </p:pic>
      <p:sp>
        <p:nvSpPr>
          <p:cNvPr id="187" name="Google Shape;187;p13"/>
          <p:cNvSpPr txBox="1"/>
          <p:nvPr/>
        </p:nvSpPr>
        <p:spPr>
          <a:xfrm>
            <a:off x="1568025" y="4888550"/>
            <a:ext cx="8982600" cy="1171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Libre Franklin"/>
              <a:buChar char="●"/>
            </a:pPr>
            <a:r>
              <a:rPr b="0" i="0" lang="en-US" sz="1800" u="none" cap="none" strike="noStrike">
                <a:solidFill>
                  <a:srgbClr val="000000"/>
                </a:solidFill>
                <a:latin typeface="Libre Franklin"/>
                <a:ea typeface="Libre Franklin"/>
                <a:cs typeface="Libre Franklin"/>
                <a:sym typeface="Libre Franklin"/>
              </a:rPr>
              <a:t>Why does it look like a trend is happening when other graphs didn’t appear to show one?</a:t>
            </a:r>
            <a:endParaRPr b="0" i="0" sz="1800" u="none" cap="none" strike="noStrike">
              <a:solidFill>
                <a:srgbClr val="000000"/>
              </a:solidFill>
              <a:latin typeface="Libre Franklin"/>
              <a:ea typeface="Libre Franklin"/>
              <a:cs typeface="Libre Franklin"/>
              <a:sym typeface="Libre Franklin"/>
            </a:endParaRPr>
          </a:p>
          <a:p>
            <a:pPr indent="-342900" lvl="0" marL="457200" marR="0" rtl="0" algn="l">
              <a:lnSpc>
                <a:spcPct val="100000"/>
              </a:lnSpc>
              <a:spcBef>
                <a:spcPts val="0"/>
              </a:spcBef>
              <a:spcAft>
                <a:spcPts val="0"/>
              </a:spcAft>
              <a:buClr>
                <a:srgbClr val="000000"/>
              </a:buClr>
              <a:buSzPts val="1800"/>
              <a:buFont typeface="Libre Franklin"/>
              <a:buChar char="●"/>
            </a:pPr>
            <a:r>
              <a:rPr b="0" i="0" lang="en-US" sz="1800" u="none" cap="none" strike="noStrike">
                <a:solidFill>
                  <a:srgbClr val="000000"/>
                </a:solidFill>
                <a:latin typeface="Libre Franklin"/>
                <a:ea typeface="Libre Franklin"/>
                <a:cs typeface="Libre Franklin"/>
                <a:sym typeface="Libre Franklin"/>
              </a:rPr>
              <a:t>Is a heat graph of good representation of the data?</a:t>
            </a:r>
            <a:endParaRPr b="0" i="0" sz="1800" u="none" cap="none" strike="noStrike">
              <a:solidFill>
                <a:srgbClr val="000000"/>
              </a:solidFill>
              <a:latin typeface="Libre Franklin"/>
              <a:ea typeface="Libre Franklin"/>
              <a:cs typeface="Libre Franklin"/>
              <a:sym typeface="Libre Frankli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1" name="Shape 191"/>
        <p:cNvGrpSpPr/>
        <p:nvPr/>
      </p:nvGrpSpPr>
      <p:grpSpPr>
        <a:xfrm>
          <a:off x="0" y="0"/>
          <a:ext cx="0" cy="0"/>
          <a:chOff x="0" y="0"/>
          <a:chExt cx="0" cy="0"/>
        </a:xfrm>
      </p:grpSpPr>
      <p:sp>
        <p:nvSpPr>
          <p:cNvPr id="192" name="Google Shape;192;g7d57d13264_0_7"/>
          <p:cNvSpPr txBox="1"/>
          <p:nvPr/>
        </p:nvSpPr>
        <p:spPr>
          <a:xfrm>
            <a:off x="373950" y="568100"/>
            <a:ext cx="5524200" cy="562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lang="en-US" sz="2400">
                <a:solidFill>
                  <a:schemeClr val="dk1"/>
                </a:solidFill>
                <a:latin typeface="Libre Franklin"/>
                <a:ea typeface="Libre Franklin"/>
                <a:cs typeface="Libre Franklin"/>
                <a:sym typeface="Libre Franklin"/>
              </a:rPr>
              <a:t>Choropleth</a:t>
            </a:r>
            <a:r>
              <a:rPr b="0" i="0" lang="en-US" sz="2400" u="none" cap="none" strike="noStrike">
                <a:solidFill>
                  <a:schemeClr val="dk1"/>
                </a:solidFill>
                <a:latin typeface="Libre Franklin"/>
                <a:ea typeface="Libre Franklin"/>
                <a:cs typeface="Libre Franklin"/>
                <a:sym typeface="Libre Franklin"/>
              </a:rPr>
              <a:t> Cost Per Capita 2011 ($) </a:t>
            </a:r>
            <a:endParaRPr b="0" i="0" sz="2400" u="none" cap="none" strike="noStrike">
              <a:solidFill>
                <a:srgbClr val="000000"/>
              </a:solidFill>
              <a:latin typeface="Arial"/>
              <a:ea typeface="Arial"/>
              <a:cs typeface="Arial"/>
              <a:sym typeface="Arial"/>
            </a:endParaRPr>
          </a:p>
        </p:txBody>
      </p:sp>
      <p:sp>
        <p:nvSpPr>
          <p:cNvPr id="193" name="Google Shape;193;g7d57d13264_0_7"/>
          <p:cNvSpPr txBox="1"/>
          <p:nvPr/>
        </p:nvSpPr>
        <p:spPr>
          <a:xfrm>
            <a:off x="6443550" y="533575"/>
            <a:ext cx="5444400" cy="562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lang="en-US" sz="2400">
                <a:solidFill>
                  <a:schemeClr val="dk1"/>
                </a:solidFill>
                <a:latin typeface="Libre Franklin"/>
                <a:ea typeface="Libre Franklin"/>
                <a:cs typeface="Libre Franklin"/>
                <a:sym typeface="Libre Franklin"/>
              </a:rPr>
              <a:t>Choropleth</a:t>
            </a:r>
            <a:r>
              <a:rPr b="0" i="0" lang="en-US" sz="2400" u="none" cap="none" strike="noStrike">
                <a:solidFill>
                  <a:schemeClr val="dk1"/>
                </a:solidFill>
                <a:latin typeface="Libre Franklin"/>
                <a:ea typeface="Libre Franklin"/>
                <a:cs typeface="Libre Franklin"/>
                <a:sym typeface="Libre Franklin"/>
              </a:rPr>
              <a:t> Obesity 2011 (%)</a:t>
            </a:r>
            <a:endParaRPr b="0" i="0" sz="2400" u="none" cap="none" strike="noStrike">
              <a:solidFill>
                <a:srgbClr val="000000"/>
              </a:solidFill>
              <a:latin typeface="Arial"/>
              <a:ea typeface="Arial"/>
              <a:cs typeface="Arial"/>
              <a:sym typeface="Arial"/>
            </a:endParaRPr>
          </a:p>
        </p:txBody>
      </p:sp>
      <p:sp>
        <p:nvSpPr>
          <p:cNvPr id="194" name="Google Shape;194;g7d57d13264_0_7"/>
          <p:cNvSpPr txBox="1"/>
          <p:nvPr/>
        </p:nvSpPr>
        <p:spPr>
          <a:xfrm>
            <a:off x="1568025" y="5336600"/>
            <a:ext cx="8982600" cy="7230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Libre Franklin"/>
              <a:buChar char="●"/>
            </a:pPr>
            <a:r>
              <a:rPr b="0" i="0" lang="en-US" sz="1800" u="none" cap="none" strike="noStrike">
                <a:solidFill>
                  <a:srgbClr val="000000"/>
                </a:solidFill>
                <a:latin typeface="Libre Franklin"/>
                <a:ea typeface="Libre Franklin"/>
                <a:cs typeface="Libre Franklin"/>
                <a:sym typeface="Libre Franklin"/>
              </a:rPr>
              <a:t>From these two graphs, we can see more clearly the contrast between obesity and the cost per capita of Medicare in 2011</a:t>
            </a:r>
            <a:endParaRPr b="0" i="0" sz="1800" u="none" cap="none" strike="noStrike">
              <a:solidFill>
                <a:srgbClr val="000000"/>
              </a:solidFill>
              <a:latin typeface="Libre Franklin"/>
              <a:ea typeface="Libre Franklin"/>
              <a:cs typeface="Libre Franklin"/>
              <a:sym typeface="Libre Franklin"/>
            </a:endParaRPr>
          </a:p>
        </p:txBody>
      </p:sp>
      <p:pic>
        <p:nvPicPr>
          <p:cNvPr id="195" name="Google Shape;195;g7d57d13264_0_7"/>
          <p:cNvPicPr preferRelativeResize="0"/>
          <p:nvPr/>
        </p:nvPicPr>
        <p:blipFill rotWithShape="1">
          <a:blip r:embed="rId3">
            <a:alphaModFix/>
          </a:blip>
          <a:srcRect b="0" l="0" r="0" t="0"/>
          <a:stretch/>
        </p:blipFill>
        <p:spPr>
          <a:xfrm>
            <a:off x="152400" y="1172275"/>
            <a:ext cx="5999050" cy="3825650"/>
          </a:xfrm>
          <a:prstGeom prst="rect">
            <a:avLst/>
          </a:prstGeom>
          <a:noFill/>
          <a:ln>
            <a:noFill/>
          </a:ln>
        </p:spPr>
      </p:pic>
      <p:pic>
        <p:nvPicPr>
          <p:cNvPr id="196" name="Google Shape;196;g7d57d13264_0_7"/>
          <p:cNvPicPr preferRelativeResize="0"/>
          <p:nvPr/>
        </p:nvPicPr>
        <p:blipFill rotWithShape="1">
          <a:blip r:embed="rId4">
            <a:alphaModFix/>
          </a:blip>
          <a:srcRect b="0" l="0" r="0" t="0"/>
          <a:stretch/>
        </p:blipFill>
        <p:spPr>
          <a:xfrm>
            <a:off x="6330275" y="1172275"/>
            <a:ext cx="5733025" cy="3825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0" name="Shape 200"/>
        <p:cNvGrpSpPr/>
        <p:nvPr/>
      </p:nvGrpSpPr>
      <p:grpSpPr>
        <a:xfrm>
          <a:off x="0" y="0"/>
          <a:ext cx="0" cy="0"/>
          <a:chOff x="0" y="0"/>
          <a:chExt cx="0" cy="0"/>
        </a:xfrm>
      </p:grpSpPr>
      <p:sp>
        <p:nvSpPr>
          <p:cNvPr id="201" name="Google Shape;201;g7d57d13264_0_15"/>
          <p:cNvSpPr txBox="1"/>
          <p:nvPr/>
        </p:nvSpPr>
        <p:spPr>
          <a:xfrm>
            <a:off x="373950" y="415700"/>
            <a:ext cx="5524200" cy="562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lang="en-US" sz="2400">
                <a:solidFill>
                  <a:schemeClr val="dk1"/>
                </a:solidFill>
                <a:latin typeface="Libre Franklin"/>
                <a:ea typeface="Libre Franklin"/>
                <a:cs typeface="Libre Franklin"/>
                <a:sym typeface="Libre Franklin"/>
              </a:rPr>
              <a:t>Choropleth</a:t>
            </a:r>
            <a:r>
              <a:rPr b="0" i="0" lang="en-US" sz="2400" u="none" cap="none" strike="noStrike">
                <a:solidFill>
                  <a:schemeClr val="dk1"/>
                </a:solidFill>
                <a:latin typeface="Libre Franklin"/>
                <a:ea typeface="Libre Franklin"/>
                <a:cs typeface="Libre Franklin"/>
                <a:sym typeface="Libre Franklin"/>
              </a:rPr>
              <a:t> Cost Per Capita 2016 ($) </a:t>
            </a:r>
            <a:endParaRPr b="0" i="0" sz="2400" u="none" cap="none" strike="noStrike">
              <a:solidFill>
                <a:srgbClr val="000000"/>
              </a:solidFill>
              <a:latin typeface="Arial"/>
              <a:ea typeface="Arial"/>
              <a:cs typeface="Arial"/>
              <a:sym typeface="Arial"/>
            </a:endParaRPr>
          </a:p>
        </p:txBody>
      </p:sp>
      <p:sp>
        <p:nvSpPr>
          <p:cNvPr id="202" name="Google Shape;202;g7d57d13264_0_15"/>
          <p:cNvSpPr txBox="1"/>
          <p:nvPr/>
        </p:nvSpPr>
        <p:spPr>
          <a:xfrm>
            <a:off x="6367350" y="381175"/>
            <a:ext cx="5444400" cy="562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lang="en-US" sz="2400">
                <a:solidFill>
                  <a:schemeClr val="dk1"/>
                </a:solidFill>
                <a:latin typeface="Libre Franklin"/>
                <a:ea typeface="Libre Franklin"/>
                <a:cs typeface="Libre Franklin"/>
                <a:sym typeface="Libre Franklin"/>
              </a:rPr>
              <a:t>Choropleth</a:t>
            </a:r>
            <a:r>
              <a:rPr b="0" i="0" lang="en-US" sz="2400" u="none" cap="none" strike="noStrike">
                <a:solidFill>
                  <a:schemeClr val="dk1"/>
                </a:solidFill>
                <a:latin typeface="Libre Franklin"/>
                <a:ea typeface="Libre Franklin"/>
                <a:cs typeface="Libre Franklin"/>
                <a:sym typeface="Libre Franklin"/>
              </a:rPr>
              <a:t> Obesity 2016 (%)</a:t>
            </a:r>
            <a:endParaRPr b="0" i="0" sz="2400" u="none" cap="none" strike="noStrike">
              <a:solidFill>
                <a:srgbClr val="000000"/>
              </a:solidFill>
              <a:latin typeface="Arial"/>
              <a:ea typeface="Arial"/>
              <a:cs typeface="Arial"/>
              <a:sym typeface="Arial"/>
            </a:endParaRPr>
          </a:p>
        </p:txBody>
      </p:sp>
      <p:sp>
        <p:nvSpPr>
          <p:cNvPr id="203" name="Google Shape;203;g7d57d13264_0_15"/>
          <p:cNvSpPr txBox="1"/>
          <p:nvPr/>
        </p:nvSpPr>
        <p:spPr>
          <a:xfrm>
            <a:off x="1568025" y="4888550"/>
            <a:ext cx="8982600" cy="1171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Libre Franklin"/>
              <a:buChar char="●"/>
            </a:pPr>
            <a:r>
              <a:rPr b="0" i="0" lang="en-US" sz="1800" u="none" cap="none" strike="noStrike">
                <a:solidFill>
                  <a:srgbClr val="000000"/>
                </a:solidFill>
                <a:latin typeface="Libre Franklin"/>
                <a:ea typeface="Libre Franklin"/>
                <a:cs typeface="Libre Franklin"/>
                <a:sym typeface="Libre Franklin"/>
              </a:rPr>
              <a:t>Again, no correlation can be seen between obesity and cost per capita of Medicare in 2016. </a:t>
            </a:r>
            <a:endParaRPr b="0" i="0" sz="1800" u="none" cap="none" strike="noStrike">
              <a:solidFill>
                <a:srgbClr val="000000"/>
              </a:solidFill>
              <a:latin typeface="Libre Franklin"/>
              <a:ea typeface="Libre Franklin"/>
              <a:cs typeface="Libre Franklin"/>
              <a:sym typeface="Libre Franklin"/>
            </a:endParaRPr>
          </a:p>
        </p:txBody>
      </p:sp>
      <p:pic>
        <p:nvPicPr>
          <p:cNvPr id="204" name="Google Shape;204;g7d57d13264_0_15"/>
          <p:cNvPicPr preferRelativeResize="0"/>
          <p:nvPr/>
        </p:nvPicPr>
        <p:blipFill rotWithShape="1">
          <a:blip r:embed="rId3">
            <a:alphaModFix/>
          </a:blip>
          <a:srcRect b="0" l="0" r="0" t="0"/>
          <a:stretch/>
        </p:blipFill>
        <p:spPr>
          <a:xfrm>
            <a:off x="228600" y="1019875"/>
            <a:ext cx="5815475" cy="3785850"/>
          </a:xfrm>
          <a:prstGeom prst="rect">
            <a:avLst/>
          </a:prstGeom>
          <a:noFill/>
          <a:ln>
            <a:noFill/>
          </a:ln>
        </p:spPr>
      </p:pic>
      <p:pic>
        <p:nvPicPr>
          <p:cNvPr id="205" name="Google Shape;205;g7d57d13264_0_15"/>
          <p:cNvPicPr preferRelativeResize="0"/>
          <p:nvPr/>
        </p:nvPicPr>
        <p:blipFill rotWithShape="1">
          <a:blip r:embed="rId4">
            <a:alphaModFix/>
          </a:blip>
          <a:srcRect b="0" l="0" r="0" t="0"/>
          <a:stretch/>
        </p:blipFill>
        <p:spPr>
          <a:xfrm>
            <a:off x="6367350" y="1019875"/>
            <a:ext cx="5605575" cy="378585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9" name="Shape 209"/>
        <p:cNvGrpSpPr/>
        <p:nvPr/>
      </p:nvGrpSpPr>
      <p:grpSpPr>
        <a:xfrm>
          <a:off x="0" y="0"/>
          <a:ext cx="0" cy="0"/>
          <a:chOff x="0" y="0"/>
          <a:chExt cx="0" cy="0"/>
        </a:xfrm>
      </p:grpSpPr>
      <p:sp>
        <p:nvSpPr>
          <p:cNvPr id="210" name="Google Shape;210;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Conclusions</a:t>
            </a:r>
            <a:endParaRPr/>
          </a:p>
        </p:txBody>
      </p:sp>
      <p:sp>
        <p:nvSpPr>
          <p:cNvPr id="211" name="Google Shape;211;p16"/>
          <p:cNvSpPr txBox="1"/>
          <p:nvPr>
            <p:ph idx="1" type="body"/>
          </p:nvPr>
        </p:nvSpPr>
        <p:spPr>
          <a:xfrm>
            <a:off x="1097280" y="1894114"/>
            <a:ext cx="4737463" cy="4474029"/>
          </a:xfrm>
          <a:prstGeom prst="rect">
            <a:avLst/>
          </a:prstGeom>
          <a:noFill/>
          <a:ln>
            <a:noFill/>
          </a:ln>
        </p:spPr>
        <p:txBody>
          <a:bodyPr anchorCtr="0" anchor="t" bIns="45700" lIns="0" spcFirstLastPara="1" rIns="0" wrap="square" tIns="45700">
            <a:normAutofit/>
          </a:bodyPr>
          <a:lstStyle/>
          <a:p>
            <a:pPr indent="-285750" lvl="0" marL="377190" rtl="0" algn="l">
              <a:lnSpc>
                <a:spcPct val="140000"/>
              </a:lnSpc>
              <a:spcBef>
                <a:spcPts val="0"/>
              </a:spcBef>
              <a:spcAft>
                <a:spcPts val="0"/>
              </a:spcAft>
              <a:buClr>
                <a:schemeClr val="dk1"/>
              </a:buClr>
              <a:buSzPts val="1900"/>
              <a:buFont typeface="Courier New"/>
              <a:buChar char="o"/>
            </a:pPr>
            <a:r>
              <a:rPr lang="en-US" sz="1800"/>
              <a:t>Healthcare costs are certainly on the rise, with out-of-pocket expenditures rising more slowly than others</a:t>
            </a:r>
            <a:endParaRPr/>
          </a:p>
          <a:p>
            <a:pPr indent="-285750" lvl="0" marL="377190" rtl="0" algn="l">
              <a:lnSpc>
                <a:spcPct val="140000"/>
              </a:lnSpc>
              <a:spcBef>
                <a:spcPts val="0"/>
              </a:spcBef>
              <a:spcAft>
                <a:spcPts val="0"/>
              </a:spcAft>
              <a:buClr>
                <a:schemeClr val="dk1"/>
              </a:buClr>
              <a:buSzPts val="1900"/>
              <a:buFont typeface="Courier New"/>
              <a:buChar char="o"/>
            </a:pPr>
            <a:r>
              <a:rPr lang="en-US" sz="1800"/>
              <a:t>Median income is ticking upward slightly</a:t>
            </a:r>
            <a:endParaRPr/>
          </a:p>
          <a:p>
            <a:pPr indent="-285750" lvl="0" marL="377190" rtl="0" algn="l">
              <a:lnSpc>
                <a:spcPct val="140000"/>
              </a:lnSpc>
              <a:spcBef>
                <a:spcPts val="0"/>
              </a:spcBef>
              <a:spcAft>
                <a:spcPts val="0"/>
              </a:spcAft>
              <a:buClr>
                <a:schemeClr val="dk1"/>
              </a:buClr>
              <a:buSzPts val="1900"/>
              <a:buFont typeface="Courier New"/>
              <a:buChar char="o"/>
            </a:pPr>
            <a:r>
              <a:rPr lang="en-US" sz="1800"/>
              <a:t>65 and older is the fastest growing age group (from 2011 – 2016)</a:t>
            </a:r>
            <a:endParaRPr/>
          </a:p>
          <a:p>
            <a:pPr indent="-285750" lvl="0" marL="377190" rtl="0" algn="l">
              <a:lnSpc>
                <a:spcPct val="140000"/>
              </a:lnSpc>
              <a:spcBef>
                <a:spcPts val="0"/>
              </a:spcBef>
              <a:spcAft>
                <a:spcPts val="0"/>
              </a:spcAft>
              <a:buClr>
                <a:schemeClr val="dk1"/>
              </a:buClr>
              <a:buSzPts val="1900"/>
              <a:buFont typeface="Courier New"/>
              <a:buChar char="o"/>
            </a:pPr>
            <a:r>
              <a:rPr lang="en-US" sz="1800"/>
              <a:t>Medicare spending is on the rise (from 2011-2016)</a:t>
            </a:r>
            <a:endParaRPr/>
          </a:p>
          <a:p>
            <a:pPr indent="-285750" lvl="0" marL="377190" rtl="0" algn="l">
              <a:lnSpc>
                <a:spcPct val="140000"/>
              </a:lnSpc>
              <a:spcBef>
                <a:spcPts val="0"/>
              </a:spcBef>
              <a:spcAft>
                <a:spcPts val="0"/>
              </a:spcAft>
              <a:buClr>
                <a:schemeClr val="dk1"/>
              </a:buClr>
              <a:buSzPts val="1900"/>
              <a:buFont typeface="Courier New"/>
              <a:buChar char="o"/>
            </a:pPr>
            <a:r>
              <a:rPr lang="en-US" sz="1800"/>
              <a:t>However, given our data:</a:t>
            </a:r>
            <a:endParaRPr/>
          </a:p>
          <a:p>
            <a:pPr indent="-285749" lvl="1" marL="834389" rtl="0" algn="l">
              <a:lnSpc>
                <a:spcPct val="140000"/>
              </a:lnSpc>
              <a:spcBef>
                <a:spcPts val="0"/>
              </a:spcBef>
              <a:spcAft>
                <a:spcPts val="0"/>
              </a:spcAft>
              <a:buClr>
                <a:schemeClr val="dk1"/>
              </a:buClr>
              <a:buSzPts val="1900"/>
              <a:buFont typeface="Courier New"/>
              <a:buChar char="o"/>
            </a:pPr>
            <a:r>
              <a:rPr lang="en-US" sz="1600"/>
              <a:t>Unable to test our hypothesis</a:t>
            </a:r>
            <a:endParaRPr/>
          </a:p>
          <a:p>
            <a:pPr indent="-285749" lvl="1" marL="834389" rtl="0" algn="l">
              <a:lnSpc>
                <a:spcPct val="140000"/>
              </a:lnSpc>
              <a:spcBef>
                <a:spcPts val="0"/>
              </a:spcBef>
              <a:spcAft>
                <a:spcPts val="0"/>
              </a:spcAft>
              <a:buClr>
                <a:schemeClr val="dk1"/>
              </a:buClr>
              <a:buSzPts val="1900"/>
              <a:buFont typeface="Courier New"/>
              <a:buChar char="o"/>
            </a:pPr>
            <a:r>
              <a:rPr lang="en-US" sz="1600"/>
              <a:t>Results are inconclusive for our aim</a:t>
            </a:r>
            <a:endParaRPr sz="1600"/>
          </a:p>
        </p:txBody>
      </p:sp>
      <p:pic>
        <p:nvPicPr>
          <p:cNvPr id="212" name="Google Shape;212;p16"/>
          <p:cNvPicPr preferRelativeResize="0"/>
          <p:nvPr/>
        </p:nvPicPr>
        <p:blipFill rotWithShape="1">
          <a:blip r:embed="rId3">
            <a:alphaModFix/>
          </a:blip>
          <a:srcRect b="0" l="0" r="0" t="0"/>
          <a:stretch/>
        </p:blipFill>
        <p:spPr>
          <a:xfrm>
            <a:off x="5923189" y="2331130"/>
            <a:ext cx="5810250" cy="3019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6" name="Shape 216"/>
        <p:cNvGrpSpPr/>
        <p:nvPr/>
      </p:nvGrpSpPr>
      <p:grpSpPr>
        <a:xfrm>
          <a:off x="0" y="0"/>
          <a:ext cx="0" cy="0"/>
          <a:chOff x="0" y="0"/>
          <a:chExt cx="0" cy="0"/>
        </a:xfrm>
      </p:grpSpPr>
      <p:sp>
        <p:nvSpPr>
          <p:cNvPr id="217" name="Google Shape;217;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Discussion</a:t>
            </a:r>
            <a:endParaRPr/>
          </a:p>
        </p:txBody>
      </p:sp>
      <p:sp>
        <p:nvSpPr>
          <p:cNvPr id="218" name="Google Shape;218;p17"/>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p>
            <a:pPr indent="-120650" lvl="0" marL="91440" rtl="0" algn="l">
              <a:lnSpc>
                <a:spcPct val="110000"/>
              </a:lnSpc>
              <a:spcBef>
                <a:spcPts val="0"/>
              </a:spcBef>
              <a:spcAft>
                <a:spcPts val="0"/>
              </a:spcAft>
              <a:buSzPts val="1900"/>
              <a:buChar char=" "/>
            </a:pPr>
            <a:r>
              <a:rPr b="1" lang="en-US"/>
              <a:t>Limitations</a:t>
            </a:r>
            <a:endParaRPr/>
          </a:p>
          <a:p>
            <a:pPr indent="-120650" lvl="0" marL="91440" rtl="0" algn="l">
              <a:lnSpc>
                <a:spcPct val="110000"/>
              </a:lnSpc>
              <a:spcBef>
                <a:spcPts val="0"/>
              </a:spcBef>
              <a:spcAft>
                <a:spcPts val="0"/>
              </a:spcAft>
              <a:buSzPts val="1900"/>
              <a:buChar char=" "/>
            </a:pPr>
            <a:r>
              <a:rPr lang="en-US"/>
              <a:t>Time constraints </a:t>
            </a:r>
            <a:endParaRPr/>
          </a:p>
          <a:p>
            <a:pPr indent="-120650" lvl="0" marL="91440" rtl="0" algn="l">
              <a:lnSpc>
                <a:spcPct val="110000"/>
              </a:lnSpc>
              <a:spcBef>
                <a:spcPts val="0"/>
              </a:spcBef>
              <a:spcAft>
                <a:spcPts val="0"/>
              </a:spcAft>
              <a:buSzPts val="1900"/>
              <a:buChar char=" "/>
            </a:pPr>
            <a:r>
              <a:rPr lang="en-US"/>
              <a:t>- cleaning data really does take up most of your time!</a:t>
            </a:r>
            <a:endParaRPr/>
          </a:p>
          <a:p>
            <a:pPr indent="-120650" lvl="0" marL="91440" rtl="0" algn="l">
              <a:lnSpc>
                <a:spcPct val="110000"/>
              </a:lnSpc>
              <a:spcBef>
                <a:spcPts val="0"/>
              </a:spcBef>
              <a:spcAft>
                <a:spcPts val="0"/>
              </a:spcAft>
              <a:buSzPts val="1900"/>
              <a:buChar char=" "/>
            </a:pPr>
            <a:r>
              <a:rPr lang="en-US"/>
              <a:t>Data constraints</a:t>
            </a:r>
            <a:endParaRPr/>
          </a:p>
          <a:p>
            <a:pPr indent="-120650" lvl="0" marL="91440" rtl="0" algn="l">
              <a:lnSpc>
                <a:spcPct val="110000"/>
              </a:lnSpc>
              <a:spcBef>
                <a:spcPts val="0"/>
              </a:spcBef>
              <a:spcAft>
                <a:spcPts val="0"/>
              </a:spcAft>
              <a:buSzPts val="1900"/>
              <a:buChar char=" "/>
            </a:pPr>
            <a:r>
              <a:rPr lang="en-US"/>
              <a:t>- by year</a:t>
            </a:r>
            <a:endParaRPr/>
          </a:p>
          <a:p>
            <a:pPr indent="-120650" lvl="0" marL="91440" rtl="0" algn="l">
              <a:lnSpc>
                <a:spcPct val="110000"/>
              </a:lnSpc>
              <a:spcBef>
                <a:spcPts val="0"/>
              </a:spcBef>
              <a:spcAft>
                <a:spcPts val="0"/>
              </a:spcAft>
              <a:buSzPts val="1900"/>
              <a:buChar char=" "/>
            </a:pPr>
            <a:r>
              <a:rPr lang="en-US"/>
              <a:t>- by type</a:t>
            </a:r>
            <a:endParaRPr/>
          </a:p>
          <a:p>
            <a:pPr indent="-114300" lvl="0" marL="91440" rtl="0" algn="l">
              <a:lnSpc>
                <a:spcPct val="110000"/>
              </a:lnSpc>
              <a:spcBef>
                <a:spcPts val="0"/>
              </a:spcBef>
              <a:spcAft>
                <a:spcPts val="0"/>
              </a:spcAft>
              <a:buSzPts val="1800"/>
              <a:buChar char=" "/>
            </a:pPr>
            <a:r>
              <a:rPr lang="en-US"/>
              <a:t>Medicare is much more </a:t>
            </a:r>
            <a:r>
              <a:rPr lang="en-US"/>
              <a:t>expansive</a:t>
            </a:r>
            <a:r>
              <a:rPr lang="en-US"/>
              <a:t> than we realized. </a:t>
            </a:r>
            <a:endParaRPr/>
          </a:p>
          <a:p>
            <a:pPr indent="-114300" lvl="0" marL="91440" rtl="0" algn="l">
              <a:lnSpc>
                <a:spcPct val="110000"/>
              </a:lnSpc>
              <a:spcBef>
                <a:spcPts val="0"/>
              </a:spcBef>
              <a:spcAft>
                <a:spcPts val="0"/>
              </a:spcAft>
              <a:buSzPts val="1800"/>
              <a:buChar char=" "/>
            </a:pPr>
            <a:r>
              <a:rPr lang="en-US"/>
              <a:t>- 4 different plans plus Medigap that has 10 more plans</a:t>
            </a:r>
            <a:endParaRPr/>
          </a:p>
          <a:p>
            <a:pPr indent="0" lvl="0" marL="457200" rtl="0" algn="l">
              <a:lnSpc>
                <a:spcPct val="110000"/>
              </a:lnSpc>
              <a:spcBef>
                <a:spcPts val="14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2" name="Shape 222"/>
        <p:cNvGrpSpPr/>
        <p:nvPr/>
      </p:nvGrpSpPr>
      <p:grpSpPr>
        <a:xfrm>
          <a:off x="0" y="0"/>
          <a:ext cx="0" cy="0"/>
          <a:chOff x="0" y="0"/>
          <a:chExt cx="0" cy="0"/>
        </a:xfrm>
      </p:grpSpPr>
      <p:sp>
        <p:nvSpPr>
          <p:cNvPr id="223" name="Google Shape;223;g7d66a9c7ee_0_0"/>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F3F3F"/>
              </a:buClr>
              <a:buSzPts val="4700"/>
              <a:buFont typeface="Bookman Old Style"/>
              <a:buNone/>
            </a:pPr>
            <a:r>
              <a:rPr lang="en-US"/>
              <a:t>Post Project thoughts:</a:t>
            </a:r>
            <a:endParaRPr/>
          </a:p>
        </p:txBody>
      </p:sp>
      <p:sp>
        <p:nvSpPr>
          <p:cNvPr id="224" name="Google Shape;224;g7d66a9c7ee_0_0"/>
          <p:cNvSpPr txBox="1"/>
          <p:nvPr>
            <p:ph idx="1" type="body"/>
          </p:nvPr>
        </p:nvSpPr>
        <p:spPr>
          <a:xfrm>
            <a:off x="2132550" y="2108200"/>
            <a:ext cx="7953600" cy="37608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None/>
            </a:pPr>
            <a:r>
              <a:rPr b="1" lang="en-US"/>
              <a:t>I</a:t>
            </a:r>
            <a:r>
              <a:rPr b="1" lang="en-US" sz="2400"/>
              <a:t>f we had two more weeks:</a:t>
            </a:r>
            <a:endParaRPr b="1" sz="2400"/>
          </a:p>
          <a:p>
            <a:pPr indent="-342900" lvl="0" marL="457200" rtl="0" algn="l">
              <a:lnSpc>
                <a:spcPct val="110000"/>
              </a:lnSpc>
              <a:spcBef>
                <a:spcPts val="0"/>
              </a:spcBef>
              <a:spcAft>
                <a:spcPts val="0"/>
              </a:spcAft>
              <a:buSzPts val="1800"/>
              <a:buChar char=" "/>
            </a:pPr>
            <a:r>
              <a:rPr lang="en-US" sz="1800"/>
              <a:t>- Look for individual to find trends to flush out other things that may be influencing our results such as medicare complexity, other health factors, and location. </a:t>
            </a:r>
            <a:endParaRPr sz="1800"/>
          </a:p>
          <a:p>
            <a:pPr indent="-342900" lvl="0" marL="457200" rtl="0" algn="l">
              <a:lnSpc>
                <a:spcPct val="110000"/>
              </a:lnSpc>
              <a:spcBef>
                <a:spcPts val="0"/>
              </a:spcBef>
              <a:spcAft>
                <a:spcPts val="0"/>
              </a:spcAft>
              <a:buSzPts val="1800"/>
              <a:buChar char=" "/>
            </a:pPr>
            <a:r>
              <a:rPr lang="en-US" sz="1800"/>
              <a:t>- Dive into healthcare to further investigate other causes of the growing cost/burden of healthcare.</a:t>
            </a:r>
            <a:endParaRPr sz="1800"/>
          </a:p>
          <a:p>
            <a:pPr indent="-342900" lvl="0" marL="457200" rtl="0" algn="l">
              <a:lnSpc>
                <a:spcPct val="110000"/>
              </a:lnSpc>
              <a:spcBef>
                <a:spcPts val="0"/>
              </a:spcBef>
              <a:spcAft>
                <a:spcPts val="0"/>
              </a:spcAft>
              <a:buSzPts val="1800"/>
              <a:buChar char=" "/>
            </a:pPr>
            <a:r>
              <a:rPr lang="en-US" sz="1800"/>
              <a:t>- Widen our scope of obesity to see the effects on healthcare in the entire population and not just limit it to medicare.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RetrospectVTI">
  <a:themeElements>
    <a:clrScheme name="AnalogousFromDarkSeedLeftStep">
      <a:dk1>
        <a:srgbClr val="000000"/>
      </a:dk1>
      <a:lt1>
        <a:srgbClr val="FFFFFF"/>
      </a:lt1>
      <a:dk2>
        <a:srgbClr val="362441"/>
      </a:dk2>
      <a:lt2>
        <a:srgbClr val="E2E8E7"/>
      </a:lt2>
      <a:accent1>
        <a:srgbClr val="D53B48"/>
      </a:accent1>
      <a:accent2>
        <a:srgbClr val="C32977"/>
      </a:accent2>
      <a:accent3>
        <a:srgbClr val="D53BC9"/>
      </a:accent3>
      <a:accent4>
        <a:srgbClr val="8F29C3"/>
      </a:accent4>
      <a:accent5>
        <a:srgbClr val="613BD5"/>
      </a:accent5>
      <a:accent6>
        <a:srgbClr val="354EC6"/>
      </a:accent6>
      <a:hlink>
        <a:srgbClr val="8B5FC9"/>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RetrospectVTI">
  <a:themeElements>
    <a:clrScheme name="AnalogousFromDarkSeedLeftStep">
      <a:dk1>
        <a:srgbClr val="000000"/>
      </a:dk1>
      <a:lt1>
        <a:srgbClr val="FFFFFF"/>
      </a:lt1>
      <a:dk2>
        <a:srgbClr val="362441"/>
      </a:dk2>
      <a:lt2>
        <a:srgbClr val="E2E8E7"/>
      </a:lt2>
      <a:accent1>
        <a:srgbClr val="D53B48"/>
      </a:accent1>
      <a:accent2>
        <a:srgbClr val="C32977"/>
      </a:accent2>
      <a:accent3>
        <a:srgbClr val="D53BC9"/>
      </a:accent3>
      <a:accent4>
        <a:srgbClr val="8F29C3"/>
      </a:accent4>
      <a:accent5>
        <a:srgbClr val="613BD5"/>
      </a:accent5>
      <a:accent6>
        <a:srgbClr val="354EC6"/>
      </a:accent6>
      <a:hlink>
        <a:srgbClr val="8B5FC9"/>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2020-02-03T23:41:34Z</dcterms:created>
  <dc:creator>Luisa zini</dc:creator>
</cp:coreProperties>
</file>